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Space Grotesk Light"/>
      <p:regular r:id="rId18"/>
      <p:bold r:id="rId19"/>
    </p:embeddedFont>
    <p:embeddedFont>
      <p:font typeface="Space Grotesk Medium"/>
      <p:regular r:id="rId20"/>
      <p:bold r:id="rId21"/>
    </p:embeddedFont>
    <p:embeddedFont>
      <p:font typeface="Space Grotesk"/>
      <p:regular r:id="rId22"/>
      <p:bold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04">
          <p15:clr>
            <a:srgbClr val="747775"/>
          </p15:clr>
        </p15:guide>
        <p15:guide id="2" pos="549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4"/>
        <p:guide pos="549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Medium-regular.fntdata"/><Relationship Id="rId22" Type="http://schemas.openxmlformats.org/officeDocument/2006/relationships/font" Target="fonts/SpaceGrotesk-regular.fntdata"/><Relationship Id="rId21" Type="http://schemas.openxmlformats.org/officeDocument/2006/relationships/font" Target="fonts/SpaceGroteskMedium-bold.fntdata"/><Relationship Id="rId24" Type="http://schemas.openxmlformats.org/officeDocument/2006/relationships/font" Target="fonts/OpenSans-regular.fntdata"/><Relationship Id="rId23" Type="http://schemas.openxmlformats.org/officeDocument/2006/relationships/font" Target="fonts/SpaceGrotes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SpaceGroteskLight-bold.fntdata"/><Relationship Id="rId18" Type="http://schemas.openxmlformats.org/officeDocument/2006/relationships/font" Target="fonts/SpaceGrotesk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[GRACE]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Hola, somos Grace Moscoso, Noelia Varillas y Débora Jerónimo, del curso IA Fundamentals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de la Maestría en Ciencia de Datos e Inteligencia Artificial de UTEC.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Nuestro proyecto final aplica métodos de búsqueda heurística para optimizar las rutas de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visitas de campo de los analistas de una entidad bancaria.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[GRAC</a:t>
            </a:r>
            <a:r>
              <a:rPr lang="es"/>
              <a:t>E</a:t>
            </a:r>
            <a:r>
              <a:rPr lang="es" sz="1100"/>
              <a:t>]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La agenda </a:t>
            </a:r>
            <a:r>
              <a:rPr lang="es"/>
              <a:t>es la siguiente</a:t>
            </a:r>
            <a:r>
              <a:rPr lang="es" sz="1100"/>
              <a:t> primero veremos </a:t>
            </a:r>
            <a:r>
              <a:rPr lang="es"/>
              <a:t>el</a:t>
            </a:r>
            <a:r>
              <a:rPr lang="es" sz="1100"/>
              <a:t> problema a solucionar, luego la propuesta, después los experimentos y finalmente los resultados obtenidos y las conclusiones.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264d6f574b248bc0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264d6f574b248bc0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264d6f574b248bc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264d6f574b248bc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264d6f574b248bc0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264d6f574b248bc0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264d6f574b248bc0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264d6f574b248bc0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3dce231e6312bc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3dce231e6312bc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3dce231e6312bc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3dce231e6312bc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3dce231e6312bc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3dce231e6312bc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3dce231e6312bc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3dce231e6312bc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3dce231e6312bc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h3dce231e6312bc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[GRACE]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Empecemos por el problema.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102800" y="-50025"/>
            <a:ext cx="9352500" cy="5326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 amt="32000"/>
          </a:blip>
          <a:srcRect b="15505" l="0" r="1117" t="0"/>
          <a:stretch/>
        </p:blipFill>
        <p:spPr>
          <a:xfrm>
            <a:off x="-104250" y="-59600"/>
            <a:ext cx="9352499" cy="5330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7288" y="360350"/>
            <a:ext cx="8352312" cy="400150"/>
            <a:chOff x="314313" y="360350"/>
            <a:chExt cx="8352312" cy="400150"/>
          </a:xfrm>
        </p:grpSpPr>
        <p:pic>
          <p:nvPicPr>
            <p:cNvPr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4313" y="409100"/>
              <a:ext cx="1573166" cy="302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02819" y="360350"/>
              <a:ext cx="1363806" cy="4001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" name="Google Shape;1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86074" y="4403200"/>
            <a:ext cx="383100" cy="40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_Blanco">
  <p:cSld name="BLANK_1"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2398650" y="1744275"/>
            <a:ext cx="4346700" cy="11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-50750" y="-75000"/>
            <a:ext cx="9248400" cy="5293500"/>
          </a:xfrm>
          <a:prstGeom prst="rect">
            <a:avLst/>
          </a:prstGeom>
          <a:solidFill>
            <a:srgbClr val="4D4B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86074" y="4403200"/>
            <a:ext cx="383100" cy="405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oogle Shape;23;p4"/>
          <p:cNvGrpSpPr/>
          <p:nvPr/>
        </p:nvGrpSpPr>
        <p:grpSpPr>
          <a:xfrm>
            <a:off x="397288" y="360350"/>
            <a:ext cx="8352312" cy="400150"/>
            <a:chOff x="314313" y="360350"/>
            <a:chExt cx="8352312" cy="400150"/>
          </a:xfrm>
        </p:grpSpPr>
        <p:pic>
          <p:nvPicPr>
            <p:cNvPr id="24" name="Google Shape;24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4313" y="409100"/>
              <a:ext cx="1573166" cy="302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02819" y="360350"/>
              <a:ext cx="1363806" cy="4001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-104250" y="-71775"/>
            <a:ext cx="9352500" cy="534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" name="Google Shape;29;p5"/>
          <p:cNvGrpSpPr/>
          <p:nvPr/>
        </p:nvGrpSpPr>
        <p:grpSpPr>
          <a:xfrm>
            <a:off x="395800" y="360350"/>
            <a:ext cx="8352401" cy="400150"/>
            <a:chOff x="314225" y="360350"/>
            <a:chExt cx="8352401" cy="400150"/>
          </a:xfrm>
        </p:grpSpPr>
        <p:pic>
          <p:nvPicPr>
            <p:cNvPr id="30" name="Google Shape;30;p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393325" y="360350"/>
              <a:ext cx="1273301" cy="400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31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4225" y="409100"/>
              <a:ext cx="1573350" cy="302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" name="Google Shape;3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8622" y="4422472"/>
            <a:ext cx="378013" cy="4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versión oscuro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04250" y="-50300"/>
            <a:ext cx="9352500" cy="5321100"/>
          </a:xfrm>
          <a:prstGeom prst="rect">
            <a:avLst/>
          </a:prstGeom>
          <a:solidFill>
            <a:srgbClr val="4D4B4C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75681" y="2006369"/>
            <a:ext cx="5192637" cy="1257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6074" y="4403200"/>
            <a:ext cx="383100" cy="40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versión claro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0" name="Google Shape;40;p7"/>
          <p:cNvSpPr/>
          <p:nvPr/>
        </p:nvSpPr>
        <p:spPr>
          <a:xfrm>
            <a:off x="-104250" y="-96000"/>
            <a:ext cx="9352500" cy="53667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9700" y="2193150"/>
            <a:ext cx="4586399" cy="88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8622" y="4422472"/>
            <a:ext cx="378013" cy="4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TITLE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4" name="Google Shape;54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/>
        </p:nvSpPr>
        <p:spPr>
          <a:xfrm>
            <a:off x="641450" y="1738350"/>
            <a:ext cx="2103120" cy="4566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4E4B4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xxxxx</a:t>
            </a:r>
            <a:endParaRPr b="0" i="0" sz="2000" u="none" cap="none" strike="noStrike">
              <a:solidFill>
                <a:srgbClr val="4E4B4C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2" name="Google Shape;62;p11"/>
          <p:cNvSpPr txBox="1"/>
          <p:nvPr/>
        </p:nvSpPr>
        <p:spPr>
          <a:xfrm>
            <a:off x="527700" y="2304288"/>
            <a:ext cx="4206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xxxxx</a:t>
            </a:r>
            <a:endParaRPr b="0" i="0" sz="5700" u="none" cap="none" strike="noStrike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0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xxxx</a:t>
            </a:r>
            <a:endParaRPr b="0" i="0" sz="5700" u="none" cap="none" strike="noStrike">
              <a:solidFill>
                <a:srgbClr val="EEEEE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64" name="Google Shape;64;p11"/>
          <p:cNvSpPr txBox="1"/>
          <p:nvPr/>
        </p:nvSpPr>
        <p:spPr>
          <a:xfrm>
            <a:off x="658076" y="3639553"/>
            <a:ext cx="42063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50">
                <a:solidFill>
                  <a:srgbClr val="FFFFFF"/>
                </a:solidFill>
              </a:rPr>
              <a:t>xxxxxx - xxxxxx - xxxxx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" sz="105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Maestría en Ciencia de Datos e Inteligencia Artificial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s" sz="1050" u="none" cap="none" strike="noStrike">
                <a:solidFill>
                  <a:srgbClr val="00E1FF"/>
                </a:solidFill>
                <a:latin typeface="Arial"/>
                <a:ea typeface="Arial"/>
                <a:cs typeface="Arial"/>
                <a:sym typeface="Arial"/>
              </a:rPr>
              <a:t>Docente: </a:t>
            </a:r>
            <a:r>
              <a:rPr lang="es" sz="1050">
                <a:solidFill>
                  <a:srgbClr val="00E1FF"/>
                </a:solidFill>
              </a:rPr>
              <a:t>xxxxxxx</a:t>
            </a:r>
            <a:r>
              <a:rPr b="0" i="0" lang="es" sz="1050" u="none" cap="none" strike="noStrike">
                <a:solidFill>
                  <a:srgbClr val="00E1FF"/>
                </a:solidFill>
                <a:latin typeface="Arial"/>
                <a:ea typeface="Arial"/>
                <a:cs typeface="Arial"/>
                <a:sym typeface="Arial"/>
              </a:rPr>
              <a:t> |   Proyecto final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E4B4C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/>
        </p:nvSpPr>
        <p:spPr>
          <a:xfrm>
            <a:off x="766517" y="263575"/>
            <a:ext cx="438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    </a:t>
            </a:r>
            <a:r>
              <a:rPr b="1" i="0" lang="es" sz="28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ÍNDICE</a:t>
            </a:r>
            <a:endParaRPr b="1" i="0" sz="28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70" name="Google Shape;7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727608" y="361041"/>
            <a:ext cx="472626" cy="42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2"/>
          <p:cNvSpPr txBox="1"/>
          <p:nvPr/>
        </p:nvSpPr>
        <p:spPr>
          <a:xfrm>
            <a:off x="727612" y="1113806"/>
            <a:ext cx="6200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pic>
        <p:nvPicPr>
          <p:cNvPr id="72" name="Google Shape;7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1182" y="319979"/>
            <a:ext cx="1846563" cy="355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464401">
            <a:off x="6453544" y="1727331"/>
            <a:ext cx="2242488" cy="2239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4425" y="1252325"/>
            <a:ext cx="3727584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2"/>
          <p:cNvSpPr txBox="1"/>
          <p:nvPr/>
        </p:nvSpPr>
        <p:spPr>
          <a:xfrm>
            <a:off x="1437682" y="1340878"/>
            <a:ext cx="297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Problema</a:t>
            </a:r>
            <a:endParaRPr b="0" i="0" sz="1200" u="none" cap="none" strike="noStrike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76" name="Google Shape;76;p12"/>
          <p:cNvSpPr txBox="1"/>
          <p:nvPr/>
        </p:nvSpPr>
        <p:spPr>
          <a:xfrm>
            <a:off x="946641" y="1283350"/>
            <a:ext cx="36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24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b="1" i="0" sz="24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77" name="Google Shape;77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3250" y="2129513"/>
            <a:ext cx="3727584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2"/>
          <p:cNvSpPr txBox="1"/>
          <p:nvPr/>
        </p:nvSpPr>
        <p:spPr>
          <a:xfrm>
            <a:off x="982166" y="2106225"/>
            <a:ext cx="36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24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b="1" i="0" sz="24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9" name="Google Shape;79;p12"/>
          <p:cNvSpPr txBox="1"/>
          <p:nvPr/>
        </p:nvSpPr>
        <p:spPr>
          <a:xfrm>
            <a:off x="1437676" y="2206400"/>
            <a:ext cx="297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Propuesta</a:t>
            </a:r>
            <a:endParaRPr b="0" i="0" sz="1200" u="none" cap="none" strike="noStrike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pic>
        <p:nvPicPr>
          <p:cNvPr id="80" name="Google Shape;8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3250" y="2975675"/>
            <a:ext cx="3727584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2"/>
          <p:cNvSpPr txBox="1"/>
          <p:nvPr/>
        </p:nvSpPr>
        <p:spPr>
          <a:xfrm>
            <a:off x="946660" y="2975675"/>
            <a:ext cx="36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24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b="1" i="0" sz="24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2" name="Google Shape;82;p12"/>
          <p:cNvSpPr txBox="1"/>
          <p:nvPr/>
        </p:nvSpPr>
        <p:spPr>
          <a:xfrm>
            <a:off x="1437676" y="3083450"/>
            <a:ext cx="297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Experimentos</a:t>
            </a:r>
            <a:endParaRPr b="0" i="0" sz="1200" u="none" cap="none" strike="noStrike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pic>
        <p:nvPicPr>
          <p:cNvPr id="83" name="Google Shape;8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3250" y="3821850"/>
            <a:ext cx="3727584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2"/>
          <p:cNvSpPr txBox="1"/>
          <p:nvPr/>
        </p:nvSpPr>
        <p:spPr>
          <a:xfrm>
            <a:off x="946660" y="3821850"/>
            <a:ext cx="36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2400" u="none" cap="none" strike="noStrike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 b="1" i="0" sz="2400" u="none" cap="none" strike="noStrike">
              <a:solidFill>
                <a:srgbClr val="00E1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5" name="Google Shape;85;p12"/>
          <p:cNvSpPr txBox="1"/>
          <p:nvPr/>
        </p:nvSpPr>
        <p:spPr>
          <a:xfrm>
            <a:off x="1437676" y="3891350"/>
            <a:ext cx="297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4E4B4C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Resultados y conclusiones</a:t>
            </a:r>
            <a:endParaRPr b="0" i="0" sz="1200" u="none" cap="none" strike="noStrike">
              <a:solidFill>
                <a:srgbClr val="4E4B4C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74012" l="0" r="0" t="0"/>
          <a:stretch/>
        </p:blipFill>
        <p:spPr>
          <a:xfrm>
            <a:off x="152400" y="152400"/>
            <a:ext cx="4495150" cy="1307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3">
            <a:alphaModFix/>
          </a:blip>
          <a:srcRect b="0" l="0" r="0" t="58241"/>
          <a:stretch/>
        </p:blipFill>
        <p:spPr>
          <a:xfrm>
            <a:off x="152400" y="1405648"/>
            <a:ext cx="4495150" cy="210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4100" y="152401"/>
            <a:ext cx="4243851" cy="259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>
            <a:off x="2398650" y="1744275"/>
            <a:ext cx="4346700" cy="11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01650"/>
            <a:ext cx="4191975" cy="219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4923" y="0"/>
            <a:ext cx="505667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950" y="105450"/>
            <a:ext cx="5998950" cy="317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152400" y="177575"/>
            <a:ext cx="623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Solución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39275"/>
            <a:ext cx="6866576" cy="373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/>
          </a:blip>
          <a:srcRect b="0" l="0" r="0" t="21942"/>
          <a:stretch/>
        </p:blipFill>
        <p:spPr>
          <a:xfrm>
            <a:off x="152400" y="448275"/>
            <a:ext cx="7083151" cy="214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950" y="157575"/>
            <a:ext cx="7028399" cy="431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2398650" y="1744275"/>
            <a:ext cx="4346700" cy="11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925" y="105450"/>
            <a:ext cx="6693326" cy="3956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2398650" y="1744275"/>
            <a:ext cx="4346700" cy="11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9150" y="116275"/>
            <a:ext cx="8715049" cy="4544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2398650" y="1744275"/>
            <a:ext cx="4346700" cy="11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0425"/>
            <a:ext cx="8058499" cy="418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/>
          <p:nvPr/>
        </p:nvSpPr>
        <p:spPr>
          <a:xfrm>
            <a:off x="-149725" y="1410025"/>
            <a:ext cx="5782800" cy="17913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534213" y="1769665"/>
            <a:ext cx="46017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s" sz="3400" u="none" cap="none" strike="noStrike">
                <a:solidFill>
                  <a:srgbClr val="4D4A4B"/>
                </a:solidFill>
                <a:latin typeface="Space Grotesk"/>
                <a:ea typeface="Space Grotesk"/>
                <a:cs typeface="Space Grotesk"/>
                <a:sym typeface="Space Grotesk"/>
              </a:rPr>
              <a:t>01 · Problema</a:t>
            </a:r>
            <a:endParaRPr b="1" i="0" sz="3400" u="none" cap="none" strike="noStrike">
              <a:solidFill>
                <a:srgbClr val="4D4A4B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551375" y="2290800"/>
            <a:ext cx="438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4D4B4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46" name="Google Shape;14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6074" y="4403200"/>
            <a:ext cx="383100" cy="40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48" name="Google Shape;148;p22" title="UTEC_CTOChiefTechnology_Office_H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5250" y="569774"/>
            <a:ext cx="5703148" cy="5703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