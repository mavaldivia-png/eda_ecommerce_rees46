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Space Grotesk Light"/>
      <p:regular r:id="rId26"/>
      <p:bold r:id="rId27"/>
    </p:embeddedFont>
    <p:embeddedFont>
      <p:font typeface="Space Grotesk Medium"/>
      <p:regular r:id="rId28"/>
      <p:bold r:id="rId29"/>
    </p:embeddedFont>
    <p:embeddedFont>
      <p:font typeface="Space Grotesk"/>
      <p:regular r:id="rId30"/>
      <p:bold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4">
          <p15:clr>
            <a:srgbClr val="747775"/>
          </p15:clr>
        </p15:guide>
        <p15:guide id="2" pos="5499">
          <p15:clr>
            <a:srgbClr val="747775"/>
          </p15:clr>
        </p15:guide>
      </p15:sldGuideLst>
    </p:ext>
    <p:ext uri="GoogleSlidesCustomDataVersion2">
      <go:slidesCustomData xmlns:go="http://customooxmlschemas.google.com/" r:id="rId36" roundtripDataSignature="AMtx7miOlqk+JxFUPgy6n8wTh8eA7ELc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4"/>
        <p:guide pos="549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Light-regular.fntdata"/><Relationship Id="rId25" Type="http://schemas.openxmlformats.org/officeDocument/2006/relationships/slide" Target="slides/slide20.xml"/><Relationship Id="rId28" Type="http://schemas.openxmlformats.org/officeDocument/2006/relationships/font" Target="fonts/SpaceGroteskMedium-regular.fntdata"/><Relationship Id="rId27" Type="http://schemas.openxmlformats.org/officeDocument/2006/relationships/font" Target="fonts/SpaceGrotesk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4D4B4C"/>
                </a:solidFill>
                <a:latin typeface="Space Grotesk"/>
              </a:rPr>
              <a:t>HitRate@5 en prueba (300 sesiones)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HitRate@5</c:v>
                </c:pt>
              </c:strCache>
            </c:strRef>
          </c:tx>
          <c:dPt>
            <c:idx val="0"/>
            <c:spPr>
              <a:solidFill>
                <a:srgbClr val="00E1FF"/>
              </a:solidFill>
            </c:spPr>
          </c:dPt>
          <c:dPt>
            <c:idx val="1"/>
            <c:spPr>
              <a:solidFill>
                <a:srgbClr val="A1A0A0"/>
              </a:solidFill>
            </c:spPr>
          </c:dPt>
          <c:dPt>
            <c:idx val="2"/>
            <c:spPr>
              <a:solidFill>
                <a:srgbClr val="A1A0A0"/>
              </a:solidFill>
            </c:spPr>
          </c:dPt>
          <c:cat>
            <c:strRef>
              <c:f>Sheet1!$A$2:$A$4</c:f>
              <c:strCache>
                <c:ptCount val="3"/>
                <c:pt idx="0">
                  <c:v>Grafo de sesión</c:v>
                </c:pt>
                <c:pt idx="1">
                  <c:v>Híbrido 1+4</c:v>
                </c:pt>
                <c:pt idx="2">
                  <c:v>HNSW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28.0</c:v>
                </c:pt>
                <c:pt idx="1">
                  <c:v>27.0</c:v>
                </c:pt>
                <c:pt idx="2">
                  <c:v>10.67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sz="1100" b="1">
                  <a:solidFill>
                    <a:srgbClr val="4D4B4C"/>
                  </a:solidFill>
                  <a:latin typeface="Space Grotesk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1A0A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D4B4C"/>
          </a:solidFill>
          <a:latin typeface="Space Grotesk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4D4B4C"/>
                </a:solidFill>
                <a:latin typeface="Space Grotesk"/>
              </a:rPr>
              <a:t>Recall@5 (%) según bandas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Recall@5</c:v>
                </c:pt>
              </c:strCache>
            </c:strRef>
          </c:tx>
          <c:dPt>
            <c:idx val="0"/>
            <c:spPr>
              <a:solidFill>
                <a:srgbClr val="A1A0A0"/>
              </a:solidFill>
            </c:spPr>
          </c:dPt>
          <c:dPt>
            <c:idx val="1"/>
            <c:spPr>
              <a:solidFill>
                <a:srgbClr val="A1A0A0"/>
              </a:solidFill>
            </c:spPr>
          </c:dPt>
          <c:dPt>
            <c:idx val="2"/>
            <c:spPr>
              <a:solidFill>
                <a:srgbClr val="A1A0A0"/>
              </a:solidFill>
            </c:spPr>
          </c:dPt>
          <c:dPt>
            <c:idx val="3"/>
            <c:spPr>
              <a:solidFill>
                <a:srgbClr val="A1A0A0"/>
              </a:solidFill>
            </c:spPr>
          </c:dPt>
          <c:dPt>
            <c:idx val="4"/>
            <c:spPr>
              <a:solidFill>
                <a:srgbClr val="00E1FF"/>
              </a:solidFill>
            </c:spPr>
          </c:dPt>
          <c:cat>
            <c:strRef>
              <c:f>Sheet1!$A$2:$A$6</c:f>
              <c:strCache>
                <c:ptCount val="5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24</c:v>
                </c:pt>
                <c:pt idx="4">
                  <c:v>99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1000" b="1">
                  <a:solidFill>
                    <a:srgbClr val="4D4B4C"/>
                  </a:solidFill>
                  <a:latin typeface="Space Grotesk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 b="0">
                    <a:solidFill>
                      <a:srgbClr val="888888"/>
                    </a:solidFill>
                    <a:latin typeface="Space Grotesk"/>
                  </a:rPr>
                  <a:t>bandas (64 permutaciones)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1A0A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4D4B4C"/>
          </a:solidFill>
          <a:latin typeface="Space Grotesk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1 abre: «Somos el grupo del motor inteligente de e-commerce. Tomamos 10 millones de eventos reales de una tienda y construimos un pipeline donde cada etapa usa la estructura de datos adecuada para su patrón de acceso.»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1: «Seguimos la vida de un evento. Primero lo preparamos, luego construimos índices para consultarlo sin recorrerlo todo, después decidimos con estructuras probabilísticas y aproximadas, y al final mostramos relaciones, servicio y evidencia.»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1: «Elegimos la opción B, comercio electrónico. Leímos 10 millones de eventos de octubre de 2019, limpiamos filas incompletas y 6.213 duplicados exactos. Ordenamos por tiempo y cortamos: el 60 % más antiguo construye las estructuras; el 40 % restante entra como stream, dividido en validación y prueba. Así evitamos fuga temporal.»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1: «El lote completo pasa por la Fase A: lectura por bloques, limpieza, orden por tiempo, síntesis de campos y prioridad, y el corte. Con el 60 % la Rama B construye almacén, B+Tree, índice vectorial, filtros de fraude, grafo y trie. El 40 % entra por una cola FIFO y un heap, consulta el almacén y el orquestador lo bifurca: una vista o un carrito pide recomendación; una compra pasa por fraude y, si no se bloquea, refuerza el grafo de co-compra.»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1: «La etapa 0 recibe el stream con una cola FIFO. Usamos deque, que es una lista doblemente enlazada: tiene un puntero al frente y otro al final, así que meter al final y sacar del frente cuestan O(1). Si usáramos una lista normal, sacar del frente obligaría a mover todos los elementos. Así recibimos los casi 4 millones de eventos del stream en el orden en que llegan.»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1: «Primero quitamos filas incompletas y eliminamos duplicados exactos con una tabla hash sobre cinco campos: salieron 6.213. Después ordenamos por tiempo con merge sort: cada elemento empieza como una lista ordenada y se mezclan de a pares comparando las cabezas, hasta tener una sola lista; es estable y O(n log n). Con más de 100 mil filas ordenamos bloques por separado y los fusionamos con un heap que guarda la cabeza de cada bloque, como un ordenamiento externo.»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1: «La cola guarda la llegada; el heap decide el turno. Un min-heap es un árbol binario completo donde cada padre es menor o igual que sus hijos, así que la raíz es siempre lo más urgente. Para insertar, el evento entra al final y sube intercambiándose con su padre mientras sea menor; para extraer, sale la raíz, el último elemento pasa arriba y baja por el hijo menor. Ambas cosas cuestan O(log n), la altura del árbol. Usamos la tupla prioridad, orden de llegada e índice para desempatar. En la corrida completa los diez primeros extraídos fueron fraude. Ahora necesitamos encontrar los datos de ese evento rápido.» → Integrante 2.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2 (Débora): «Para buscar por ID usamos una tabla hash: con la clave se calcula la cubeta y se llega directo, en O(1) esperado; por eso consultarla tomó lo mismo con mil que con un millón de eventos. Construirla sí cuesta: 146 ms en un millón, pero desde la segunda consulta ya gana al escaneo. Delante va una caché LRU de 256 productos: al consultar, el producto pasa al frente; si está llena, sale el menos reciente. Es un OrderedDict, hash más lista doble, así que todo es O(1). Las interacciones usuario-producto van en una matriz dispersa: un diccionario de diccionarios que solo guarda las celdas con datos.»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Integrante 2 (Débora): «Un hash no sirve para rangos porque pierde el orden. En un B+Tree los datos están en las hojas, ordenados y enlazados, y los nodos internos solo tienen separadores. Para buscar precios entre 35 y 65: en la raíz, 35 cae entre 30 y 60, así que bajamos a la hoja del medio; ahí tomamos 40 y 50, seguimos el enlace a la hoja siguiente, tomamos 60 y paramos en 70. Cuando una hoja se llena se parte en dos y una clave sube al padre; si se parte la raíz, el árbol crece un nivel. El costo es O(log_f n + k). Nuestro árbol en disco guarda 80 productos por hoja y cada nodo interno tiene 48 hijos; como la capacidad se multiplica por nivel, 121.903 productos quedan en 1.524 hojas, 32 nodos internos y una raíz: altura 3. Una búsqueda lee 3 páginas para llegar a la hoja y después solo las hojas del rango. También hay un árbol en memoria, de orden 32, que actualiza el stream y usa la pestaña Precios.»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2bfabe37e835229a_1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h2bfabe37e835229a_1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Integrante 2 (Débora): «El objetivo es encontrar los productos más parecidos a uno dado, Q. Cada producto es un punto con dos valores: precio y popularidad. El KD-Tree es un árbol binario: la raíz es el producto que queda en la mediana por precio, F, que cuesta 7; a la izquierda van los más baratos y a la derecha los más caros. En el siguiente nivel, cada mitad se corta por la mediana de popularidad: B y C. A, D y E son las hojas. Para buscar Q, que tiene precio 4 y popularidad 6, bajamos: en F, 4 es menor que 7, vamos a la izquierda; en B, 6 es mayor o igual que 4, vamos a la derecha y llegamos a D, a distancia 1. Al volver, revisamos si vale la pena cruzar: el corte de B está a 2 y el de F a 3, los dos más lejos que D, así que A, C y E no pueden estar más cerca y no se miden. En el proyecto lo validamos con 3.000 productos reales: los 5 vecinos fueron los mismos que con fuerza bruta. En 14 dimensiones casi no se puede podar; por eso ahí usamos KNN exacto, que mide todas las distancias, como referencia para medir HNSW.» → Integrante 3.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3: «Un Bloom Filter es un arreglo de bits con k funciones hash. Al agregar un dispositivo, sus k bits pasan a 1. Al consultar, si algún bit está en 0 el elemento seguro no está; si todos están en 1, quizá está: puede ser un falso positivo porque otros elementos encendieron esos bits. Medimos entre 0,7 y 1,3 % con un diseño de 1 %, en 0,03 MB. El Count-Min Sketch es una matriz de contadores: cada fila tiene su hash, al agregar se suma 1 en una celda por fila y para estimar se toma el mínimo. Como las colisiones solo suman, sobreestima pero nunca subestima.»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3: «Ninguna estructura probabilística bloquea sola. Si el Bloom dice que el dispositivo o el pago quizá fueron señalados, o si el Count-Min estima 8 o más compras del usuario en una hora, la compra va a revisión. Solo bloqueamos si el conjunto exacto confirma el fraude. En el stream completo hubo 740 bloqueos y 67.138 revisiones. Si preguntan por qué tantas revisiones: con unas 100 mil compras en 4.096 columnas el Count-Min acumula colisiones y supera el umbral; la mejora es un sketch más ancho con ventana deslizante.»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3: «HNSW (Hierarchical Navigable Small World)</a:t>
            </a:r>
            <a:r>
              <a:rPr lang="es"/>
              <a:t> O(logN)</a:t>
            </a:r>
            <a:r>
              <a:rPr lang="es" sz="1100"/>
              <a:t> construye un grafo de vecinos en varias capas: arriba pocos nodos con saltos largos, abajo todos los nodos con enlaces cortos. Para buscar entra por la capa más alta, avanza al vecino más cercano a la consulta, baja de capa y repite; en la capa 0 revisa 40 candidatos. Así no compara contra los 20.000 vectores. Recuperó en promedio 89 % del top-5 exacto y fue 5,7 veces más rápido. Lo elegimos frente a IVF porque no requiere entrenar clústeres, y frente a M-Tree o VP-Tree porque nuestro espacio es euclidiano.»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3: «El grafo de sesión une los productos que aparecen en la misma visita. Para recomendar, sumamos los pesos de cada candidato hacia los productos ya vistos: aquí C suma 3 más 1 y sale primero. El híbrido toma 1 candidato de HNSW y 4 del grafo. En 300 sesiones de prueba el grafo acertó en 28 %, el híbrido en 27 % y HNSW en 10,7 %: sumar componentes no garantiza mejorar.» → Integrante 4.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4: «Cada compra que no se bloquea une los productos de la misma sesión; el peso cuenta cuántas veces. PageRank reparte importancia por esas aristas: un producto es relevante si lo compran junto a otros relevantes; usamos factor 0,85 y 30 iteraciones. Louvain detecta comunidades: mueve cada nodo a la comunidad vecina que más sube la modularidad y luego agrupa cada comunidad en un supernodo. En el mismo subgrafo, Louvain logró más modularidad y fue más rápido; Label Propagation fue más estable entre semillas.»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4: «Todo termina en el servicio. El trie guarda cada texto letra por letra: para autocompletar «sa» bajamos dos nodos, en tiempo proporcional al largo del prefijo, y con un recorrido en anchura juntamos las sugerencias más cercanas. Top-K ordena los candidatos y entrega los cinco mejores. El dashboard tiene seis pestañas que usan las estructuras que mostramos; ahora lo vemos en vivo.» → Demo.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Un solo operador maneja el dashboard (notebook quick ya ejecutado). 1) Simular evento → vista: se ve la ruta etapa por etapa y 5 recomendaciones. 2) Buscar → un ID poco popular: HASH; repetir: CACHE; pestaña Precios → rango por defecto con el B+Tree. 3) Simular compra con «Dispositivo señalado (Bloom)»: decisión revisar o bloquear, no entra al grafo. 4) Dos compras en la misma sesión → «aristas nuevas 1»; pestaña Grafo. Tener capturas de respaldo por si Colab falla.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4: «No hay una estructura universalmente mejor: la decisión depende del patrón de acceso, la memoria y la persistencia. Lo más sofisticado no siempre ganó, y lo mostramos con evidencia. Somos honestos con los límites: los benchmarks controlados llegan a 1 millón, aunque procesamos 10; el fraude es ilustrativo; el B+Tree en disco es estático.»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Bloque de preguntas: 10 minutos, dirigidas a cada integrante.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Integrante 3: «Para similitud de conjuntos usamos MinHash más LSH. Cada producto se representa por el conjunto de usuarios que lo vieron. MinHash aplica 64 funciones hash y guarda el mínimo de cada una: la probabilidad de que dos productos tengan el mismo mínimo es igual a su similitud de Jaccard. LSH corta esa firma en bandas; si dos productos coinciden en una banda caen en el mismo bucket y son candidatos. Solo a esos les calculamos Jaccard exacto. Con 16 bandas no hubo candidatos; con 64 llegamos a 99 % de recall, pero con 80 candidatos: más recall cuesta más trabajo. Elegimos MinHash porque los datos son conjuntos; SimHash es para similitud coseno.»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" name="Google Shape;11;p23"/>
          <p:cNvSpPr/>
          <p:nvPr/>
        </p:nvSpPr>
        <p:spPr>
          <a:xfrm>
            <a:off x="-102800" y="-50025"/>
            <a:ext cx="9352500" cy="5326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2">
            <a:alphaModFix amt="32000"/>
          </a:blip>
          <a:srcRect b="15505" l="0" r="1117" t="0"/>
          <a:stretch/>
        </p:blipFill>
        <p:spPr>
          <a:xfrm>
            <a:off x="-104250" y="-59600"/>
            <a:ext cx="9352499" cy="5330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3"/>
          <p:cNvGrpSpPr/>
          <p:nvPr/>
        </p:nvGrpSpPr>
        <p:grpSpPr>
          <a:xfrm>
            <a:off x="397288" y="360350"/>
            <a:ext cx="8352312" cy="400150"/>
            <a:chOff x="314313" y="360350"/>
            <a:chExt cx="8352312" cy="400150"/>
          </a:xfrm>
        </p:grpSpPr>
        <p:pic>
          <p:nvPicPr>
            <p:cNvPr id="14" name="Google Shape;14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Google Shape;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_Blanco">
  <p:cSld name="BLANK_1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2398650" y="1744275"/>
            <a:ext cx="43467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" name="Google Shape;21;p25"/>
          <p:cNvSpPr/>
          <p:nvPr/>
        </p:nvSpPr>
        <p:spPr>
          <a:xfrm>
            <a:off x="-104250" y="-71775"/>
            <a:ext cx="9352500" cy="53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25"/>
          <p:cNvGrpSpPr/>
          <p:nvPr/>
        </p:nvGrpSpPr>
        <p:grpSpPr>
          <a:xfrm>
            <a:off x="395800" y="360350"/>
            <a:ext cx="8352401" cy="400150"/>
            <a:chOff x="314225" y="360350"/>
            <a:chExt cx="8352401" cy="400150"/>
          </a:xfrm>
        </p:grpSpPr>
        <p:pic>
          <p:nvPicPr>
            <p:cNvPr id="23" name="Google Shape;23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93325" y="360350"/>
              <a:ext cx="1273301" cy="4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225" y="409100"/>
              <a:ext cx="1573350" cy="30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Google Shape;2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8622" y="4422472"/>
            <a:ext cx="378013" cy="4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" name="Google Shape;28;p26"/>
          <p:cNvSpPr/>
          <p:nvPr/>
        </p:nvSpPr>
        <p:spPr>
          <a:xfrm>
            <a:off x="-50750" y="-75000"/>
            <a:ext cx="9248400" cy="5293500"/>
          </a:xfrm>
          <a:prstGeom prst="rect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26"/>
          <p:cNvGrpSpPr/>
          <p:nvPr/>
        </p:nvGrpSpPr>
        <p:grpSpPr>
          <a:xfrm>
            <a:off x="397288" y="360350"/>
            <a:ext cx="8352312" cy="400150"/>
            <a:chOff x="314313" y="360350"/>
            <a:chExt cx="8352312" cy="400150"/>
          </a:xfrm>
        </p:grpSpPr>
        <p:pic>
          <p:nvPicPr>
            <p:cNvPr id="31" name="Google Shape;3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oscuro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5" name="Google Shape;35;p27"/>
          <p:cNvSpPr/>
          <p:nvPr/>
        </p:nvSpPr>
        <p:spPr>
          <a:xfrm>
            <a:off x="-104250" y="-50300"/>
            <a:ext cx="9352500" cy="5321100"/>
          </a:xfrm>
          <a:prstGeom prst="rect">
            <a:avLst/>
          </a:prstGeom>
          <a:solidFill>
            <a:srgbClr val="4D4B4C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75681" y="2006369"/>
            <a:ext cx="5192637" cy="1257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clar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" name="Google Shape;40;p28"/>
          <p:cNvSpPr/>
          <p:nvPr/>
        </p:nvSpPr>
        <p:spPr>
          <a:xfrm>
            <a:off x="-104250" y="-96000"/>
            <a:ext cx="9352500" cy="5366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9700" y="2193150"/>
            <a:ext cx="4586399" cy="8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8622" y="4422472"/>
            <a:ext cx="378013" cy="4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" name="Google Shape;54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/>
        </p:nvSpPr>
        <p:spPr>
          <a:xfrm>
            <a:off x="641450" y="1738350"/>
            <a:ext cx="1783080" cy="4566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4E4B4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EDA · 2026-2</a:t>
            </a:r>
            <a:endParaRPr b="0" i="0" sz="2000" u="none" cap="none" strike="noStrike">
              <a:solidFill>
                <a:srgbClr val="4E4B4C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527700" y="2426000"/>
            <a:ext cx="566928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4200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Motor inteligente</a:t>
            </a:r>
            <a:endParaRPr b="0" i="0" sz="5700" u="none" cap="none" strike="noStrike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4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e-commerce</a:t>
            </a:r>
            <a:endParaRPr b="0" i="0" sz="5700" u="none" cap="none" strike="noStrike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" name="Google Shape;63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640080" y="36576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Pipeline de estructuras de datos sobre 10 millones de eventos REES46</a:t>
            </a: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640080" y="4041648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Grace Moscosso · Débora Jerónimo · Vanessa Burbano · Miguel Valdivia</a:t>
            </a:r>
            <a:endParaRPr/>
          </a:p>
        </p:txBody>
      </p:sp>
      <p:sp>
        <p:nvSpPr>
          <p:cNvPr id="66" name="Google Shape;66;p1"/>
          <p:cNvSpPr txBox="1"/>
          <p:nvPr/>
        </p:nvSpPr>
        <p:spPr>
          <a:xfrm>
            <a:off x="640080" y="4315968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A1A0A0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Maestría en Ciencia de Datos e Inteligencia Artificial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E4B4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66517" y="263575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</a:t>
            </a:r>
            <a:r>
              <a:rPr b="1" i="0" lang="es" sz="2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</a:t>
            </a:r>
            <a:endParaRPr b="1" i="0" sz="28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27608" y="361041"/>
            <a:ext cx="472626" cy="42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182" y="319979"/>
            <a:ext cx="1846563" cy="35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464401">
            <a:off x="6453544" y="1727331"/>
            <a:ext cx="2242488" cy="223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425" y="1787008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"/>
          <p:cNvSpPr txBox="1"/>
          <p:nvPr/>
        </p:nvSpPr>
        <p:spPr>
          <a:xfrm>
            <a:off x="1437682" y="1875561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Preparar el flujo · etapas 0–2</a:t>
            </a:r>
            <a:endParaRPr b="0" i="0" sz="12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946641" y="1772849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8" name="Google Shape;7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250" y="2543704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/>
          <p:nvPr/>
        </p:nvSpPr>
        <p:spPr>
          <a:xfrm>
            <a:off x="982166" y="2543008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1437676" y="2620591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Buscar sin recorrer todo · 3–5</a:t>
            </a:r>
            <a:endParaRPr b="0" i="0" sz="12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81" name="Google Shape;8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250" y="3276905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"/>
          <p:cNvSpPr txBox="1"/>
          <p:nvPr/>
        </p:nvSpPr>
        <p:spPr>
          <a:xfrm>
            <a:off x="946660" y="3276905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1437676" y="3384680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Decidir con incertidumbre · 6–7</a:t>
            </a:r>
            <a:endParaRPr b="0" i="0" sz="12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84" name="Google Shape;8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250" y="4010119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 txBox="1"/>
          <p:nvPr/>
        </p:nvSpPr>
        <p:spPr>
          <a:xfrm>
            <a:off x="946660" y="4010119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24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1437676" y="4079619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Entregar valor y evidencia · 8–9</a:t>
            </a:r>
            <a:endParaRPr b="0" i="0" sz="12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250" y="1042761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1476507" y="1131314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Introducción</a:t>
            </a:r>
            <a:endParaRPr b="0" i="0" sz="12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985466" y="1036132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24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Diez millones de eventos, una decisión por evento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548640" y="1612194"/>
            <a:ext cx="3749100" cy="21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reto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" sz="11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Vistas, carritos y compras llegan en volumen. Cada evento pide una operación distinta: priorizar, consultar, recomendar o vigilar fraude.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Los datos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" sz="11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REES46, archivo 2019-Oct.csv (Kaggle). Trae producto, categoría, marca, precio, usuario y sesión.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" sz="11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Dispositivo, pago, entrega y fraude no vienen: se generan con una huella SHA-256 determinista, semilla 42.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572000" y="1508760"/>
            <a:ext cx="1874519" cy="11887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4709160" y="1691639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10.000.000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4709160" y="2221991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eventos leídos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629400" y="1508760"/>
            <a:ext cx="1874519" cy="11887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766560" y="1691639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9.993.786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6766560" y="2221991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eventos tras limpieza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572000" y="2880360"/>
            <a:ext cx="1874519" cy="11887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709160" y="3063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6.213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4709160" y="3593591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duplicados exactos eliminados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629400" y="2880360"/>
            <a:ext cx="1874519" cy="1188720"/>
          </a:xfrm>
          <a:prstGeom prst="roundRect">
            <a:avLst>
              <a:gd fmla="val 12000" name="adj"/>
            </a:avLst>
          </a:prstGeom>
          <a:solidFill>
            <a:srgbClr val="00E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6766560" y="3063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60 / 10 / 30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6766560" y="3593591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histórico · validación · prueba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miguel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454619" y="1092434"/>
            <a:ext cx="13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E4B4C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Introducción </a:t>
            </a:r>
            <a:endParaRPr b="1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Dos ramas: construir con el 60 %, servir el 40 %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548640" y="1539560"/>
            <a:ext cx="27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A · PREPARAR TODO EL LOTE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48640" y="1768160"/>
            <a:ext cx="1371600" cy="365700"/>
          </a:xfrm>
          <a:prstGeom prst="roundRect">
            <a:avLst>
              <a:gd fmla="val 12000" name="adj"/>
            </a:avLst>
          </a:prstGeom>
          <a:solidFill>
            <a:srgbClr val="4D4B4C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Lectura</a:t>
            </a:r>
            <a:endParaRPr/>
          </a:p>
        </p:txBody>
      </p:sp>
      <p:cxnSp>
        <p:nvCxnSpPr>
          <p:cNvPr id="119" name="Google Shape;119;p4"/>
          <p:cNvCxnSpPr/>
          <p:nvPr/>
        </p:nvCxnSpPr>
        <p:spPr>
          <a:xfrm>
            <a:off x="1920240" y="1951040"/>
            <a:ext cx="255900" cy="0"/>
          </a:xfrm>
          <a:prstGeom prst="straightConnector1">
            <a:avLst/>
          </a:prstGeom>
          <a:noFill/>
          <a:ln cap="flat" cmpd="sng" w="158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4"/>
          <p:cNvSpPr/>
          <p:nvPr/>
        </p:nvSpPr>
        <p:spPr>
          <a:xfrm>
            <a:off x="2176272" y="1768160"/>
            <a:ext cx="1371600" cy="365700"/>
          </a:xfrm>
          <a:prstGeom prst="roundRect">
            <a:avLst>
              <a:gd fmla="val 12000" name="adj"/>
            </a:avLst>
          </a:prstGeom>
          <a:solidFill>
            <a:srgbClr val="4D4B4C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Limpieza</a:t>
            </a:r>
            <a:endParaRPr/>
          </a:p>
        </p:txBody>
      </p:sp>
      <p:cxnSp>
        <p:nvCxnSpPr>
          <p:cNvPr id="121" name="Google Shape;121;p4"/>
          <p:cNvCxnSpPr/>
          <p:nvPr/>
        </p:nvCxnSpPr>
        <p:spPr>
          <a:xfrm>
            <a:off x="3547872" y="1951040"/>
            <a:ext cx="255900" cy="0"/>
          </a:xfrm>
          <a:prstGeom prst="straightConnector1">
            <a:avLst/>
          </a:prstGeom>
          <a:noFill/>
          <a:ln cap="flat" cmpd="sng" w="158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4"/>
          <p:cNvSpPr/>
          <p:nvPr/>
        </p:nvSpPr>
        <p:spPr>
          <a:xfrm>
            <a:off x="3803904" y="1768160"/>
            <a:ext cx="1371600" cy="365700"/>
          </a:xfrm>
          <a:prstGeom prst="roundRect">
            <a:avLst>
              <a:gd fmla="val 12000" name="adj"/>
            </a:avLst>
          </a:prstGeom>
          <a:solidFill>
            <a:srgbClr val="4D4B4C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Orden</a:t>
            </a:r>
            <a:endParaRPr/>
          </a:p>
        </p:txBody>
      </p:sp>
      <p:cxnSp>
        <p:nvCxnSpPr>
          <p:cNvPr id="123" name="Google Shape;123;p4"/>
          <p:cNvCxnSpPr/>
          <p:nvPr/>
        </p:nvCxnSpPr>
        <p:spPr>
          <a:xfrm>
            <a:off x="5175504" y="1951040"/>
            <a:ext cx="255900" cy="0"/>
          </a:xfrm>
          <a:prstGeom prst="straightConnector1">
            <a:avLst/>
          </a:prstGeom>
          <a:noFill/>
          <a:ln cap="flat" cmpd="sng" w="158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4"/>
          <p:cNvSpPr/>
          <p:nvPr/>
        </p:nvSpPr>
        <p:spPr>
          <a:xfrm>
            <a:off x="5431536" y="1768160"/>
            <a:ext cx="1371600" cy="365700"/>
          </a:xfrm>
          <a:prstGeom prst="roundRect">
            <a:avLst>
              <a:gd fmla="val 12000" name="adj"/>
            </a:avLst>
          </a:prstGeom>
          <a:solidFill>
            <a:srgbClr val="4D4B4C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Síntesis</a:t>
            </a:r>
            <a:endParaRPr/>
          </a:p>
        </p:txBody>
      </p:sp>
      <p:cxnSp>
        <p:nvCxnSpPr>
          <p:cNvPr id="125" name="Google Shape;125;p4"/>
          <p:cNvCxnSpPr/>
          <p:nvPr/>
        </p:nvCxnSpPr>
        <p:spPr>
          <a:xfrm>
            <a:off x="6803136" y="1951040"/>
            <a:ext cx="255900" cy="0"/>
          </a:xfrm>
          <a:prstGeom prst="straightConnector1">
            <a:avLst/>
          </a:prstGeom>
          <a:noFill/>
          <a:ln cap="flat" cmpd="sng" w="158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4"/>
          <p:cNvSpPr/>
          <p:nvPr/>
        </p:nvSpPr>
        <p:spPr>
          <a:xfrm>
            <a:off x="7059168" y="1768160"/>
            <a:ext cx="1371600" cy="365700"/>
          </a:xfrm>
          <a:prstGeom prst="roundRect">
            <a:avLst>
              <a:gd fmla="val 12000" name="adj"/>
            </a:avLst>
          </a:prstGeom>
          <a:solidFill>
            <a:srgbClr val="4D4B4C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Corte 60/40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548640" y="2335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RAMA B · CONSTRUIR (60 %)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4526280" y="2335088"/>
            <a:ext cx="402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RAMA C · SERVIR EL STREAM (40 %)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48640" y="2591120"/>
            <a:ext cx="1691700" cy="50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Almacén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 · matriz · LRU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377440" y="2591120"/>
            <a:ext cx="1691700" cy="50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B+Tree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rangos de precio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48640" y="3203768"/>
            <a:ext cx="1691700" cy="50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grafo sesión · HNSW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377440" y="3203768"/>
            <a:ext cx="1691700" cy="50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Fraude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 · Count-Min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48640" y="3816416"/>
            <a:ext cx="1691700" cy="50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Co-compra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grafo ponderado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2377440" y="3816416"/>
            <a:ext cx="1691700" cy="50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autocompletado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526280" y="2591120"/>
            <a:ext cx="1188600" cy="50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Cola FIFO</a:t>
            </a:r>
            <a:endParaRPr/>
          </a:p>
        </p:txBody>
      </p:sp>
      <p:cxnSp>
        <p:nvCxnSpPr>
          <p:cNvPr id="136" name="Google Shape;136;p4"/>
          <p:cNvCxnSpPr/>
          <p:nvPr/>
        </p:nvCxnSpPr>
        <p:spPr>
          <a:xfrm>
            <a:off x="5715000" y="2838008"/>
            <a:ext cx="183000" cy="0"/>
          </a:xfrm>
          <a:prstGeom prst="straightConnector1">
            <a:avLst/>
          </a:prstGeom>
          <a:noFill/>
          <a:ln cap="flat" cmpd="sng" w="158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p4"/>
          <p:cNvSpPr/>
          <p:nvPr/>
        </p:nvSpPr>
        <p:spPr>
          <a:xfrm>
            <a:off x="5897880" y="2591120"/>
            <a:ext cx="1188600" cy="50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Min-heap</a:t>
            </a:r>
            <a:endParaRPr/>
          </a:p>
        </p:txBody>
      </p:sp>
      <p:cxnSp>
        <p:nvCxnSpPr>
          <p:cNvPr id="138" name="Google Shape;138;p4"/>
          <p:cNvCxnSpPr/>
          <p:nvPr/>
        </p:nvCxnSpPr>
        <p:spPr>
          <a:xfrm>
            <a:off x="7086600" y="2838008"/>
            <a:ext cx="183000" cy="0"/>
          </a:xfrm>
          <a:prstGeom prst="straightConnector1">
            <a:avLst/>
          </a:prstGeom>
          <a:noFill/>
          <a:ln cap="flat" cmpd="sng" w="158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4"/>
          <p:cNvSpPr/>
          <p:nvPr/>
        </p:nvSpPr>
        <p:spPr>
          <a:xfrm>
            <a:off x="7316496" y="2591120"/>
            <a:ext cx="1188600" cy="50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Lookup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 · LRU · B+Tree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7269480" y="3203768"/>
            <a:ext cx="1280100" cy="365700"/>
          </a:xfrm>
          <a:prstGeom prst="roundRect">
            <a:avLst>
              <a:gd fmla="val 12000" name="adj"/>
            </a:avLst>
          </a:prstGeom>
          <a:solidFill>
            <a:srgbClr val="00E1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Orquestador</a:t>
            </a:r>
            <a:endParaRPr/>
          </a:p>
        </p:txBody>
      </p:sp>
      <p:cxnSp>
        <p:nvCxnSpPr>
          <p:cNvPr id="141" name="Google Shape;141;p4"/>
          <p:cNvCxnSpPr/>
          <p:nvPr/>
        </p:nvCxnSpPr>
        <p:spPr>
          <a:xfrm>
            <a:off x="7909560" y="3103444"/>
            <a:ext cx="0" cy="109800"/>
          </a:xfrm>
          <a:prstGeom prst="straightConnector1">
            <a:avLst/>
          </a:prstGeom>
          <a:noFill/>
          <a:ln cap="flat" cmpd="sng" w="158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4"/>
          <p:cNvSpPr/>
          <p:nvPr/>
        </p:nvSpPr>
        <p:spPr>
          <a:xfrm>
            <a:off x="4526280" y="3203768"/>
            <a:ext cx="2469000" cy="3657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 / carrito → Recomendación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526280" y="3706688"/>
            <a:ext cx="2469000" cy="3657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Compra → Fraude → Co-compra</a:t>
            </a:r>
            <a:endParaRPr/>
          </a:p>
        </p:txBody>
      </p:sp>
      <p:cxnSp>
        <p:nvCxnSpPr>
          <p:cNvPr id="144" name="Google Shape;144;p4"/>
          <p:cNvCxnSpPr/>
          <p:nvPr/>
        </p:nvCxnSpPr>
        <p:spPr>
          <a:xfrm rot="10800000">
            <a:off x="6995280" y="3386648"/>
            <a:ext cx="274200" cy="0"/>
          </a:xfrm>
          <a:prstGeom prst="straightConnector1">
            <a:avLst/>
          </a:prstGeom>
          <a:noFill/>
          <a:ln cap="flat" cmpd="sng" w="158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4"/>
          <p:cNvCxnSpPr/>
          <p:nvPr/>
        </p:nvCxnSpPr>
        <p:spPr>
          <a:xfrm flipH="1">
            <a:off x="6995279" y="3569528"/>
            <a:ext cx="502800" cy="301800"/>
          </a:xfrm>
          <a:prstGeom prst="straightConnector1">
            <a:avLst/>
          </a:prstGeom>
          <a:noFill/>
          <a:ln cap="flat" cmpd="sng" w="1587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" name="Google Shape;146;p4"/>
          <p:cNvSpPr/>
          <p:nvPr/>
        </p:nvSpPr>
        <p:spPr>
          <a:xfrm>
            <a:off x="4526280" y="4191320"/>
            <a:ext cx="4023300" cy="292500"/>
          </a:xfrm>
          <a:prstGeom prst="roundRect">
            <a:avLst>
              <a:gd fmla="val 12000" name="adj"/>
            </a:avLst>
          </a:prstGeom>
          <a:solidFill>
            <a:srgbClr val="4D4B4C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Panel: consultas · ventas · alertas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miguel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454619" y="1083031"/>
            <a:ext cx="13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E4B4C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Introducción </a:t>
            </a:r>
            <a:endParaRPr b="1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0 · Cola FIFO: primero en llegar, primero en salir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548640" y="1503244"/>
            <a:ext cx="457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CÓMO FUNCIONA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1188720" y="1777564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frente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3794760" y="1777564"/>
            <a:ext cx="77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final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1188720" y="2006163"/>
            <a:ext cx="777300" cy="502800"/>
          </a:xfrm>
          <a:prstGeom prst="roundRect">
            <a:avLst>
              <a:gd fmla="val 12000" name="adj"/>
            </a:avLst>
          </a:prstGeom>
          <a:solidFill>
            <a:srgbClr val="00E1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2057400" y="2006163"/>
            <a:ext cx="777300" cy="5028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carrito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2926080" y="2006163"/>
            <a:ext cx="777300" cy="5028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compra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794759" y="2006163"/>
            <a:ext cx="777300" cy="5028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</a:t>
            </a:r>
            <a:endParaRPr/>
          </a:p>
        </p:txBody>
      </p:sp>
      <p:cxnSp>
        <p:nvCxnSpPr>
          <p:cNvPr id="162" name="Google Shape;162;p5"/>
          <p:cNvCxnSpPr/>
          <p:nvPr/>
        </p:nvCxnSpPr>
        <p:spPr>
          <a:xfrm rot="10800000">
            <a:off x="566832" y="2253052"/>
            <a:ext cx="603600" cy="0"/>
          </a:xfrm>
          <a:prstGeom prst="straightConnector1">
            <a:avLst/>
          </a:prstGeom>
          <a:noFill/>
          <a:ln cap="flat" cmpd="sng" w="25400">
            <a:solidFill>
              <a:srgbClr val="00E1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5"/>
          <p:cNvCxnSpPr/>
          <p:nvPr/>
        </p:nvCxnSpPr>
        <p:spPr>
          <a:xfrm rot="10800000">
            <a:off x="4590252" y="2253052"/>
            <a:ext cx="512100" cy="0"/>
          </a:xfrm>
          <a:prstGeom prst="straightConnector1">
            <a:avLst/>
          </a:prstGeom>
          <a:noFill/>
          <a:ln cap="flat" cmpd="sng" w="25400">
            <a:solidFill>
              <a:srgbClr val="00E1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5"/>
          <p:cNvSpPr txBox="1"/>
          <p:nvPr/>
        </p:nvSpPr>
        <p:spPr>
          <a:xfrm>
            <a:off x="548640" y="2600524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sale: popleft() · O(1)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3383280" y="2600524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entra: append() · O(1)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548640" y="3012004"/>
            <a:ext cx="45720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deque es una lista doblemente enlazada de bloques con un puntero al frente y otro al final: encolar y desencolar no mueven al resto de elementos.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Con una lista de Python, sacar del frente (pop(0)) desplaza todo: O(n).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La cola conserva la llegada, pero no decide la urgencia: eso es la etapa 2.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349240" y="1503244"/>
            <a:ext cx="3246000" cy="29718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5532120" y="1631260"/>
            <a:ext cx="2880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5532120" y="1914724"/>
            <a:ext cx="288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3.997.515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5532120" y="2307916"/>
            <a:ext cx="288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eventos del stream (el 40 %) recibidos en orden de llegada</a:t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5532120" y="2810835"/>
            <a:ext cx="288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O(1)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5532120" y="3204028"/>
            <a:ext cx="288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operación, sin importar cuántos eventos haya en la cola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5532120" y="3972124"/>
            <a:ext cx="288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En el notebook la cola se vuelca entera al heap: es una simulación por lote.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vane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454619" y="1111241"/>
            <a:ext cx="13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E4B4C"/>
                </a:solidFill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rPr>
              <a:t>Preparar el flujo</a:t>
            </a:r>
            <a:r>
              <a:rPr b="1" lang="es" sz="1200">
                <a:solidFill>
                  <a:srgbClr val="4E4B4C"/>
                </a:solidFill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b="1"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1 · Limpiar, deduplicar y ordenar por tiempo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548640" y="1531453"/>
            <a:ext cx="457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MERGE SORT · DIVIDIR Y MEZCLAR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48640" y="1805773"/>
            <a:ext cx="411600" cy="31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7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1051560" y="1805773"/>
            <a:ext cx="411600" cy="31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554480" y="1805773"/>
            <a:ext cx="411600" cy="31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9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2057400" y="1805773"/>
            <a:ext cx="411600" cy="31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2697480" y="1878925"/>
            <a:ext cx="246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Cada elemento es una lista ordenada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48640" y="2235541"/>
            <a:ext cx="914400" cy="31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 · 7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554480" y="2235541"/>
            <a:ext cx="914400" cy="31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 · 9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2697480" y="2308693"/>
            <a:ext cx="246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Mezcla de a pares comparando las cabezas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48640" y="2665309"/>
            <a:ext cx="1920300" cy="3108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 · 3 · 7 · 9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2697480" y="2738461"/>
            <a:ext cx="246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Repite hasta tener una sola lista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548640" y="3149941"/>
            <a:ext cx="457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MÁS DE 100.000 FILAS · MEZCLA DE K BLOQUES CON UN HEAP · O(n log k)</a:t>
            </a:r>
            <a:endParaRPr/>
          </a:p>
        </p:txBody>
      </p:sp>
      <p:grpSp>
        <p:nvGrpSpPr>
          <p:cNvPr id="194" name="Google Shape;194;p6"/>
          <p:cNvGrpSpPr/>
          <p:nvPr/>
        </p:nvGrpSpPr>
        <p:grpSpPr>
          <a:xfrm>
            <a:off x="548640" y="3405973"/>
            <a:ext cx="1737360" cy="969143"/>
            <a:chOff x="548640" y="3405973"/>
            <a:chExt cx="1737360" cy="969143"/>
          </a:xfrm>
        </p:grpSpPr>
        <p:sp>
          <p:nvSpPr>
            <p:cNvPr id="195" name="Google Shape;195;p6"/>
            <p:cNvSpPr/>
            <p:nvPr/>
          </p:nvSpPr>
          <p:spPr>
            <a:xfrm>
              <a:off x="548640" y="3405973"/>
              <a:ext cx="960000" cy="274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· 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· 9</a:t>
              </a:r>
              <a:endParaRPr/>
            </a:p>
          </p:txBody>
        </p:sp>
        <p:cxnSp>
          <p:nvCxnSpPr>
            <p:cNvPr id="196" name="Google Shape;196;p6"/>
            <p:cNvCxnSpPr/>
            <p:nvPr/>
          </p:nvCxnSpPr>
          <p:spPr>
            <a:xfrm>
              <a:off x="1508760" y="3543132"/>
              <a:ext cx="320100" cy="246900"/>
            </a:xfrm>
            <a:prstGeom prst="straightConnector1">
              <a:avLst/>
            </a:prstGeom>
            <a:noFill/>
            <a:ln cap="flat" cmpd="sng" w="12700">
              <a:solidFill>
                <a:srgbClr val="8888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7" name="Google Shape;197;p6"/>
            <p:cNvSpPr/>
            <p:nvPr/>
          </p:nvSpPr>
          <p:spPr>
            <a:xfrm>
              <a:off x="548640" y="3753444"/>
              <a:ext cx="960000" cy="274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· 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3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· 7</a:t>
              </a:r>
              <a:endParaRPr/>
            </a:p>
          </p:txBody>
        </p:sp>
        <p:cxnSp>
          <p:nvCxnSpPr>
            <p:cNvPr id="198" name="Google Shape;198;p6"/>
            <p:cNvCxnSpPr/>
            <p:nvPr/>
          </p:nvCxnSpPr>
          <p:spPr>
            <a:xfrm flipH="1" rot="10800000">
              <a:off x="1508760" y="3790105"/>
              <a:ext cx="320100" cy="100500"/>
            </a:xfrm>
            <a:prstGeom prst="straightConnector1">
              <a:avLst/>
            </a:prstGeom>
            <a:noFill/>
            <a:ln cap="flat" cmpd="sng" w="12700">
              <a:solidFill>
                <a:srgbClr val="8888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9" name="Google Shape;199;p6"/>
            <p:cNvSpPr/>
            <p:nvPr/>
          </p:nvSpPr>
          <p:spPr>
            <a:xfrm>
              <a:off x="548640" y="4100916"/>
              <a:ext cx="960000" cy="274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5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· 6 · 8</a:t>
              </a:r>
              <a:endParaRPr/>
            </a:p>
          </p:txBody>
        </p:sp>
        <p:cxnSp>
          <p:nvCxnSpPr>
            <p:cNvPr id="200" name="Google Shape;200;p6"/>
            <p:cNvCxnSpPr/>
            <p:nvPr/>
          </p:nvCxnSpPr>
          <p:spPr>
            <a:xfrm flipH="1" rot="10800000">
              <a:off x="1508760" y="3789877"/>
              <a:ext cx="320100" cy="448200"/>
            </a:xfrm>
            <a:prstGeom prst="straightConnector1">
              <a:avLst/>
            </a:prstGeom>
            <a:noFill/>
            <a:ln cap="flat" cmpd="sng" w="12700">
              <a:solidFill>
                <a:srgbClr val="8888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1" name="Google Shape;201;p6"/>
            <p:cNvSpPr/>
            <p:nvPr/>
          </p:nvSpPr>
          <p:spPr>
            <a:xfrm>
              <a:off x="1828800" y="3561421"/>
              <a:ext cx="457200" cy="457200"/>
            </a:xfrm>
            <a:prstGeom prst="ellipse">
              <a:avLst/>
            </a:prstGeom>
            <a:solidFill>
              <a:srgbClr val="4D4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" sz="850" u="none" cap="none" strike="noStrik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heap</a:t>
              </a:r>
              <a:endParaRPr/>
            </a:p>
          </p:txBody>
        </p:sp>
      </p:grpSp>
      <p:cxnSp>
        <p:nvCxnSpPr>
          <p:cNvPr id="202" name="Google Shape;202;p6"/>
          <p:cNvCxnSpPr/>
          <p:nvPr/>
        </p:nvCxnSpPr>
        <p:spPr>
          <a:xfrm>
            <a:off x="2286000" y="3790021"/>
            <a:ext cx="320100" cy="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6"/>
          <p:cNvSpPr/>
          <p:nvPr/>
        </p:nvSpPr>
        <p:spPr>
          <a:xfrm>
            <a:off x="2606040" y="3652861"/>
            <a:ext cx="1737300" cy="2742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 · 2 · 3 · 4 · 5 …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2606040" y="4000333"/>
            <a:ext cx="246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heap guarda la cabeza de cada bloque y siempre saca la menor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349240" y="1531453"/>
            <a:ext cx="3246000" cy="2971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5532120" y="1659469"/>
            <a:ext cx="2880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5532120" y="1942933"/>
            <a:ext cx="288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9.993.786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5532120" y="2336125"/>
            <a:ext cx="2880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eventos limpios de 10.000.000 leídos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5532120" y="2839044"/>
            <a:ext cx="288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6.213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5532120" y="3232237"/>
            <a:ext cx="2880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duplicados exactos eliminados con una tabla hash: clave (tiempo, tipo, producto, usuario, sesión)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5532120" y="4000333"/>
            <a:ext cx="288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888888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Validado: el merge sort externo da el mismo orden que sorted(). Búsqueda binaria O(log n) sobre IDs.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vane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454619" y="1111241"/>
            <a:ext cx="13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E4B4C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Preparar el flujo </a:t>
            </a:r>
            <a:endParaRPr b="1">
              <a:highlight>
                <a:schemeClr val="lt1"/>
              </a:highlight>
            </a:endParaRPr>
          </a:p>
        </p:txBody>
      </p:sp>
      <p:grpSp>
        <p:nvGrpSpPr>
          <p:cNvPr id="214" name="Google Shape;214;p6"/>
          <p:cNvGrpSpPr/>
          <p:nvPr/>
        </p:nvGrpSpPr>
        <p:grpSpPr>
          <a:xfrm>
            <a:off x="548640" y="3405973"/>
            <a:ext cx="1737360" cy="969143"/>
            <a:chOff x="548640" y="3405973"/>
            <a:chExt cx="1737360" cy="969143"/>
          </a:xfrm>
        </p:grpSpPr>
        <p:sp>
          <p:nvSpPr>
            <p:cNvPr id="215" name="Google Shape;215;p6"/>
            <p:cNvSpPr/>
            <p:nvPr/>
          </p:nvSpPr>
          <p:spPr>
            <a:xfrm>
              <a:off x="548640" y="3405973"/>
              <a:ext cx="960000" cy="274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· 9</a:t>
              </a:r>
              <a:endParaRPr/>
            </a:p>
          </p:txBody>
        </p:sp>
        <p:cxnSp>
          <p:nvCxnSpPr>
            <p:cNvPr id="216" name="Google Shape;216;p6"/>
            <p:cNvCxnSpPr/>
            <p:nvPr/>
          </p:nvCxnSpPr>
          <p:spPr>
            <a:xfrm>
              <a:off x="1508760" y="3543132"/>
              <a:ext cx="320100" cy="246900"/>
            </a:xfrm>
            <a:prstGeom prst="straightConnector1">
              <a:avLst/>
            </a:prstGeom>
            <a:noFill/>
            <a:ln cap="flat" cmpd="sng" w="12700">
              <a:solidFill>
                <a:srgbClr val="8888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7" name="Google Shape;217;p6"/>
            <p:cNvSpPr/>
            <p:nvPr/>
          </p:nvSpPr>
          <p:spPr>
            <a:xfrm>
              <a:off x="548640" y="3753444"/>
              <a:ext cx="960000" cy="274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3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· 7</a:t>
              </a:r>
              <a:endParaRPr/>
            </a:p>
          </p:txBody>
        </p:sp>
        <p:cxnSp>
          <p:nvCxnSpPr>
            <p:cNvPr id="218" name="Google Shape;218;p6"/>
            <p:cNvCxnSpPr/>
            <p:nvPr/>
          </p:nvCxnSpPr>
          <p:spPr>
            <a:xfrm flipH="1" rot="10800000">
              <a:off x="1508760" y="3790105"/>
              <a:ext cx="320100" cy="100500"/>
            </a:xfrm>
            <a:prstGeom prst="straightConnector1">
              <a:avLst/>
            </a:prstGeom>
            <a:noFill/>
            <a:ln cap="flat" cmpd="sng" w="12700">
              <a:solidFill>
                <a:srgbClr val="8888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9" name="Google Shape;219;p6"/>
            <p:cNvSpPr/>
            <p:nvPr/>
          </p:nvSpPr>
          <p:spPr>
            <a:xfrm>
              <a:off x="548640" y="4100916"/>
              <a:ext cx="960000" cy="274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5</a:t>
              </a:r>
              <a:r>
                <a:rPr b="0" i="0" lang="es" sz="95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· 6 · 8</a:t>
              </a:r>
              <a:endParaRPr/>
            </a:p>
          </p:txBody>
        </p:sp>
        <p:cxnSp>
          <p:nvCxnSpPr>
            <p:cNvPr id="220" name="Google Shape;220;p6"/>
            <p:cNvCxnSpPr/>
            <p:nvPr/>
          </p:nvCxnSpPr>
          <p:spPr>
            <a:xfrm flipH="1" rot="10800000">
              <a:off x="1508760" y="3789877"/>
              <a:ext cx="320100" cy="448200"/>
            </a:xfrm>
            <a:prstGeom prst="straightConnector1">
              <a:avLst/>
            </a:prstGeom>
            <a:noFill/>
            <a:ln cap="flat" cmpd="sng" w="12700">
              <a:solidFill>
                <a:srgbClr val="8888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1" name="Google Shape;221;p6"/>
            <p:cNvSpPr/>
            <p:nvPr/>
          </p:nvSpPr>
          <p:spPr>
            <a:xfrm>
              <a:off x="1828800" y="3561421"/>
              <a:ext cx="457200" cy="457200"/>
            </a:xfrm>
            <a:prstGeom prst="ellipse">
              <a:avLst/>
            </a:prstGeom>
            <a:solidFill>
              <a:srgbClr val="4D4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" sz="850" u="none" cap="none" strike="noStrik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heap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2 · Min-heap: la raíz siempre es lo más urgente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548640" y="1540856"/>
            <a:ext cx="457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CÓMO FUNCIONA</a:t>
            </a:r>
            <a:endParaRPr/>
          </a:p>
        </p:txBody>
      </p:sp>
      <p:cxnSp>
        <p:nvCxnSpPr>
          <p:cNvPr id="229" name="Google Shape;229;p7"/>
          <p:cNvCxnSpPr/>
          <p:nvPr/>
        </p:nvCxnSpPr>
        <p:spPr>
          <a:xfrm flipH="1">
            <a:off x="1417200" y="2106488"/>
            <a:ext cx="868800" cy="2103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7"/>
          <p:cNvCxnSpPr/>
          <p:nvPr/>
        </p:nvCxnSpPr>
        <p:spPr>
          <a:xfrm>
            <a:off x="2286000" y="2106488"/>
            <a:ext cx="868800" cy="2103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7"/>
          <p:cNvCxnSpPr/>
          <p:nvPr/>
        </p:nvCxnSpPr>
        <p:spPr>
          <a:xfrm flipH="1">
            <a:off x="960120" y="2719136"/>
            <a:ext cx="457200" cy="2196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7"/>
          <p:cNvCxnSpPr/>
          <p:nvPr/>
        </p:nvCxnSpPr>
        <p:spPr>
          <a:xfrm>
            <a:off x="1417320" y="2719136"/>
            <a:ext cx="457200" cy="2196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7"/>
          <p:cNvCxnSpPr/>
          <p:nvPr/>
        </p:nvCxnSpPr>
        <p:spPr>
          <a:xfrm flipH="1">
            <a:off x="2697480" y="2719136"/>
            <a:ext cx="457200" cy="2196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7"/>
          <p:cNvCxnSpPr/>
          <p:nvPr/>
        </p:nvCxnSpPr>
        <p:spPr>
          <a:xfrm>
            <a:off x="3154680" y="2719136"/>
            <a:ext cx="457200" cy="2196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7"/>
          <p:cNvSpPr/>
          <p:nvPr/>
        </p:nvSpPr>
        <p:spPr>
          <a:xfrm>
            <a:off x="2084831" y="1704152"/>
            <a:ext cx="402300" cy="40230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1216152" y="2316800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2953512" y="2316800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758952" y="2938591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6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1673351" y="2938591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2496312" y="2938591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6</a:t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3410712" y="2938591"/>
            <a:ext cx="402300" cy="40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2606040" y="1813880"/>
            <a:ext cx="2377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pop() saca la raíz: Fraude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3977639" y="2819720"/>
            <a:ext cx="118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cada padre ≤ sus hijos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548640" y="3505520"/>
            <a:ext cx="4572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push: </a:t>
            </a:r>
            <a:r>
              <a:rPr b="0" i="0" lang="es" sz="10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entra al final y sube mientras sea menor que su padre · O(log 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pop: </a:t>
            </a:r>
            <a:r>
              <a:rPr b="0" i="0" lang="es" sz="10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sale la raíz; el último pasa arriba y baja por el hijo menor · O(log 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Desempate: </a:t>
            </a:r>
            <a:r>
              <a:rPr b="0" i="0" lang="es" sz="10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tupla (prioridad, orden de llegada, índice)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349240" y="1493840"/>
            <a:ext cx="3246000" cy="29718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5532120" y="1621856"/>
            <a:ext cx="283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PRIORIDADES 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5532120" y="1905320"/>
            <a:ext cx="27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5852160" y="1905320"/>
            <a:ext cx="2560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Fraude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5532120" y="2170495"/>
            <a:ext cx="27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5852160" y="2170495"/>
            <a:ext cx="2560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Compra express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5532120" y="2435672"/>
            <a:ext cx="27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5852160" y="2435672"/>
            <a:ext cx="2560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Compra estándar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5532120" y="2700848"/>
            <a:ext cx="27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5852160" y="2700848"/>
            <a:ext cx="2560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Compra programada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5532120" y="2966024"/>
            <a:ext cx="27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5852160" y="2966024"/>
            <a:ext cx="2560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Carrito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5532120" y="3231200"/>
            <a:ext cx="27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6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5852160" y="3231200"/>
            <a:ext cx="2560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5532120" y="3596960"/>
            <a:ext cx="28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10 de 10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5532120" y="3981008"/>
            <a:ext cx="29262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primeros eventos extraídos en FULL fueron fraude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vane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465260" y="1105978"/>
            <a:ext cx="139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E4B4C"/>
                </a:solidFill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rPr>
              <a:t>Preparar el flujo </a:t>
            </a:r>
            <a:endParaRPr b="1"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/>
          <p:nvPr>
            <p:ph idx="12" type="sldNum"/>
          </p:nvPr>
        </p:nvSpPr>
        <p:spPr>
          <a:xfrm>
            <a:off x="8472458" y="48418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3 · Tabla hash, caché LRU y matriz dispersa</a:t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548640" y="1559662"/>
            <a:ext cx="2606100" cy="2240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246120" y="1559662"/>
            <a:ext cx="2606100" cy="2240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943600" y="1559662"/>
            <a:ext cx="2606100" cy="2240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685800" y="1641699"/>
            <a:ext cx="237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Tabla hash · acceso por ID</a:t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685800" y="2291182"/>
            <a:ext cx="777300" cy="292500"/>
          </a:xfrm>
          <a:prstGeom prst="rect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1005115</a:t>
            </a:r>
            <a:endParaRPr/>
          </a:p>
        </p:txBody>
      </p:sp>
      <p:cxnSp>
        <p:nvCxnSpPr>
          <p:cNvPr id="274" name="Google Shape;274;p8"/>
          <p:cNvCxnSpPr/>
          <p:nvPr/>
        </p:nvCxnSpPr>
        <p:spPr>
          <a:xfrm>
            <a:off x="1463040" y="2437486"/>
            <a:ext cx="365700" cy="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" name="Google Shape;275;p8"/>
          <p:cNvSpPr txBox="1"/>
          <p:nvPr/>
        </p:nvSpPr>
        <p:spPr>
          <a:xfrm>
            <a:off x="685800" y="2638654"/>
            <a:ext cx="109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hash(id) mod m</a:t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1874519" y="1998574"/>
            <a:ext cx="1143000" cy="20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1874519" y="2227174"/>
            <a:ext cx="1143000" cy="20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1874519" y="2455774"/>
            <a:ext cx="1143000" cy="201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precio, marca…</a:t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1874519" y="2684374"/>
            <a:ext cx="1143000" cy="20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1874519" y="2912974"/>
            <a:ext cx="1143000" cy="20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685800" y="3205582"/>
            <a:ext cx="237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Calcula la </a:t>
            </a:r>
            <a:r>
              <a:rPr lang="es" sz="9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casilla </a:t>
            </a:r>
            <a:r>
              <a:rPr b="0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desde la clave: O(1) esperado. Pierde el orden: no sirve para rangos.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3383279" y="1641699"/>
            <a:ext cx="237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Caché LRU · 256 productos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3383279" y="1907134"/>
            <a:ext cx="128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más reciente →</a:t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3383279" y="2108302"/>
            <a:ext cx="329100" cy="274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3767328" y="2108302"/>
            <a:ext cx="329100" cy="274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B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4151376" y="2108302"/>
            <a:ext cx="329100" cy="274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4617720" y="2163166"/>
            <a:ext cx="11886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inicio</a:t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3383279" y="2455774"/>
            <a:ext cx="329100" cy="2742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767328" y="2455774"/>
            <a:ext cx="329100" cy="274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4151376" y="2455774"/>
            <a:ext cx="329100" cy="274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B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4617720" y="2510638"/>
            <a:ext cx="11886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consulta C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3383279" y="2803246"/>
            <a:ext cx="329100" cy="2742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3767328" y="2803246"/>
            <a:ext cx="329100" cy="274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4151376" y="2803246"/>
            <a:ext cx="329100" cy="274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4617720" y="2858110"/>
            <a:ext cx="11886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llega D: sale B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3383279" y="3205582"/>
            <a:ext cx="237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OrderedDict = hash + lista doble: mover al frente y expulsar al último en O(1).</a:t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6080760" y="1641699"/>
            <a:ext cx="237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Matriz dispersa (DOK)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6080760" y="1998574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281928" y="1998574"/>
            <a:ext cx="183000" cy="1830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6483096" y="1998574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684264" y="1998574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6885432" y="1998574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080760" y="2199742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281928" y="2199742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483096" y="2199742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684264" y="2199742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885432" y="2199742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6080760" y="2400910"/>
            <a:ext cx="183000" cy="1830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6281928" y="2400910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483096" y="2400910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684264" y="2400910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6885432" y="2400910"/>
            <a:ext cx="183000" cy="1830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6080760" y="2602078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281928" y="2602078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483096" y="2602078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684264" y="2602078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885432" y="2602078"/>
            <a:ext cx="183000" cy="18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8"/>
          <p:cNvCxnSpPr/>
          <p:nvPr/>
        </p:nvCxnSpPr>
        <p:spPr>
          <a:xfrm>
            <a:off x="7132320" y="2382622"/>
            <a:ext cx="183000" cy="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9" name="Google Shape;319;p8"/>
          <p:cNvSpPr txBox="1"/>
          <p:nvPr/>
        </p:nvSpPr>
        <p:spPr>
          <a:xfrm>
            <a:off x="7360920" y="2016862"/>
            <a:ext cx="1143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u1: {p2: 3}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u3: {p1: 2, p5: 1}</a:t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6080760" y="3205582"/>
            <a:ext cx="237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interacciones usuario-producto.</a:t>
            </a:r>
            <a:endParaRPr sz="900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Solo guarda celdas no nulas (formato DOK): insertar en O(1) durante el stream.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548640" y="3956686"/>
            <a:ext cx="8001000" cy="621900"/>
          </a:xfrm>
          <a:prstGeom prst="roundRect">
            <a:avLst>
              <a:gd fmla="val 12000" name="adj"/>
            </a:avLst>
          </a:prstGeom>
          <a:solidFill>
            <a:srgbClr val="4D4B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713232" y="4011550"/>
            <a:ext cx="246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0,00015 ms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713232" y="4240150"/>
            <a:ext cx="251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consultar el hash: igual con 1K que con 1M eventos</a:t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3383280" y="4011550"/>
            <a:ext cx="246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5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CACHE o HASH</a:t>
            </a:r>
            <a:endParaRPr/>
          </a:p>
        </p:txBody>
      </p:sp>
      <p:sp>
        <p:nvSpPr>
          <p:cNvPr id="325" name="Google Shape;325;p8"/>
          <p:cNvSpPr txBox="1"/>
          <p:nvPr/>
        </p:nvSpPr>
        <p:spPr>
          <a:xfrm>
            <a:off x="3383280" y="4240150"/>
            <a:ext cx="251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cada consulta indica si el producto salió de la caché LRU o del catálogo</a:t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6053328" y="4011550"/>
            <a:ext cx="246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5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O(1) por evento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6053325" y="4240162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cada vista, carrito o compra suma 1 en su celda usuario-producto</a:t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debora</a:t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454630" y="1111250"/>
            <a:ext cx="25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E4B4C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Buscar sin recorrer todo</a:t>
            </a:r>
            <a:r>
              <a:rPr b="1" lang="es" sz="1200">
                <a:solidFill>
                  <a:srgbClr val="4E4B4C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b="1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"/>
          <p:cNvSpPr/>
          <p:nvPr/>
        </p:nvSpPr>
        <p:spPr>
          <a:xfrm>
            <a:off x="503050" y="4229450"/>
            <a:ext cx="4572000" cy="5277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6" name="Google Shape;336;p9"/>
          <p:cNvSpPr txBox="1"/>
          <p:nvPr/>
        </p:nvSpPr>
        <p:spPr>
          <a:xfrm>
            <a:off x="548640" y="803636"/>
            <a:ext cx="804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4 · B+Tree: así se resuelve un rango de precios</a:t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debora</a:t>
            </a:r>
            <a:endParaRPr/>
          </a:p>
        </p:txBody>
      </p:sp>
      <p:sp>
        <p:nvSpPr>
          <p:cNvPr id="338" name="Google Shape;338;p9"/>
          <p:cNvSpPr txBox="1"/>
          <p:nvPr/>
        </p:nvSpPr>
        <p:spPr>
          <a:xfrm>
            <a:off x="548640" y="1484437"/>
            <a:ext cx="457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CONSULTA: PRECIOS ENTRE 35 Y 65</a:t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2194560" y="1711742"/>
            <a:ext cx="12801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30  |  60</a:t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548640" y="2580422"/>
            <a:ext cx="1371600" cy="365700"/>
          </a:xfrm>
          <a:prstGeom prst="rect">
            <a:avLst/>
          </a:prstGeom>
          <a:solidFill>
            <a:srgbClr val="5E5C5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10 · 20</a:t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2148840" y="2580422"/>
            <a:ext cx="1371600" cy="3657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30 · 40 · 50</a:t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3749039" y="2580422"/>
            <a:ext cx="1371600" cy="3657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60 · 70 · 80</a:t>
            </a:r>
            <a:endParaRPr/>
          </a:p>
        </p:txBody>
      </p:sp>
      <p:cxnSp>
        <p:nvCxnSpPr>
          <p:cNvPr id="343" name="Google Shape;343;p9"/>
          <p:cNvCxnSpPr/>
          <p:nvPr/>
        </p:nvCxnSpPr>
        <p:spPr>
          <a:xfrm flipH="1">
            <a:off x="1234320" y="2077502"/>
            <a:ext cx="1097400" cy="5028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9"/>
          <p:cNvCxnSpPr/>
          <p:nvPr/>
        </p:nvCxnSpPr>
        <p:spPr>
          <a:xfrm>
            <a:off x="2834640" y="2077502"/>
            <a:ext cx="0" cy="502800"/>
          </a:xfrm>
          <a:prstGeom prst="straightConnector1">
            <a:avLst/>
          </a:prstGeom>
          <a:noFill/>
          <a:ln cap="flat" cmpd="sng" w="28575">
            <a:solidFill>
              <a:srgbClr val="00E1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9"/>
          <p:cNvCxnSpPr/>
          <p:nvPr/>
        </p:nvCxnSpPr>
        <p:spPr>
          <a:xfrm>
            <a:off x="3337560" y="2077502"/>
            <a:ext cx="1097400" cy="5028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9"/>
          <p:cNvCxnSpPr/>
          <p:nvPr/>
        </p:nvCxnSpPr>
        <p:spPr>
          <a:xfrm>
            <a:off x="1920240" y="2763302"/>
            <a:ext cx="228600" cy="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9"/>
          <p:cNvCxnSpPr/>
          <p:nvPr/>
        </p:nvCxnSpPr>
        <p:spPr>
          <a:xfrm>
            <a:off x="3520440" y="2763302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0E1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9"/>
          <p:cNvSpPr txBox="1"/>
          <p:nvPr/>
        </p:nvSpPr>
        <p:spPr>
          <a:xfrm>
            <a:off x="3520440" y="2973614"/>
            <a:ext cx="45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next</a:t>
            </a:r>
            <a:endParaRPr/>
          </a:p>
        </p:txBody>
      </p:sp>
      <p:sp>
        <p:nvSpPr>
          <p:cNvPr id="349" name="Google Shape;349;p9"/>
          <p:cNvSpPr txBox="1"/>
          <p:nvPr/>
        </p:nvSpPr>
        <p:spPr>
          <a:xfrm>
            <a:off x="548640" y="3220502"/>
            <a:ext cx="457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1. </a:t>
            </a:r>
            <a:r>
              <a:rPr b="0" i="0" lang="es" sz="10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Raíz: 35 está entre 30 y 60 → baja a la hoja del medio.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2. </a:t>
            </a:r>
            <a:r>
              <a:rPr b="0" i="0" lang="es" sz="10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Hoja: salta 30, toma 40 y 50.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3. </a:t>
            </a:r>
            <a:r>
              <a:rPr b="0" i="0" lang="es" sz="10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Sigue el enlace: toma 60 y se detiene en 70 &gt; 65.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Resultado: 40, 50, 60.</a:t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5349250" y="1437422"/>
            <a:ext cx="3246000" cy="33480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5541523" y="1565438"/>
            <a:ext cx="283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PARÁMETROS </a:t>
            </a:r>
            <a:r>
              <a:rPr b="1" lang="es" sz="85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 </a:t>
            </a:r>
            <a:r>
              <a:rPr b="1" i="0" lang="es" sz="8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ÁRBOL </a:t>
            </a:r>
            <a:endParaRPr/>
          </a:p>
        </p:txBody>
      </p:sp>
      <p:sp>
        <p:nvSpPr>
          <p:cNvPr id="352" name="Google Shape;352;p9"/>
          <p:cNvSpPr txBox="1"/>
          <p:nvPr/>
        </p:nvSpPr>
        <p:spPr>
          <a:xfrm>
            <a:off x="5532120" y="1820692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80</a:t>
            </a:r>
            <a:endParaRPr/>
          </a:p>
        </p:txBody>
      </p:sp>
      <p:sp>
        <p:nvSpPr>
          <p:cNvPr id="353" name="Google Shape;353;p9"/>
          <p:cNvSpPr txBox="1"/>
          <p:nvPr/>
        </p:nvSpPr>
        <p:spPr>
          <a:xfrm>
            <a:off x="6126480" y="1894622"/>
            <a:ext cx="233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leaf_capacity: </a:t>
            </a:r>
            <a:r>
              <a:rPr b="0" i="0" lang="es" sz="9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productos (precio, id) por hoja</a:t>
            </a:r>
            <a:endParaRPr/>
          </a:p>
        </p:txBody>
      </p:sp>
      <p:sp>
        <p:nvSpPr>
          <p:cNvPr id="354" name="Google Shape;354;p9"/>
          <p:cNvSpPr txBox="1"/>
          <p:nvPr/>
        </p:nvSpPr>
        <p:spPr>
          <a:xfrm>
            <a:off x="5532120" y="2201372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48</a:t>
            </a:r>
            <a:endParaRPr/>
          </a:p>
        </p:txBody>
      </p:sp>
      <p:sp>
        <p:nvSpPr>
          <p:cNvPr id="355" name="Google Shape;355;p9"/>
          <p:cNvSpPr txBox="1"/>
          <p:nvPr/>
        </p:nvSpPr>
        <p:spPr>
          <a:xfrm>
            <a:off x="6126480" y="2312914"/>
            <a:ext cx="2331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fanout: </a:t>
            </a:r>
            <a:r>
              <a:rPr b="0" i="0" lang="es" sz="9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hijos por cada nodo interno</a:t>
            </a:r>
            <a:endParaRPr/>
          </a:p>
        </p:txBody>
      </p:sp>
      <p:sp>
        <p:nvSpPr>
          <p:cNvPr id="356" name="Google Shape;356;p9"/>
          <p:cNvSpPr txBox="1"/>
          <p:nvPr/>
        </p:nvSpPr>
        <p:spPr>
          <a:xfrm>
            <a:off x="5532120" y="2685486"/>
            <a:ext cx="29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121.903 productos → 1.524 hojas → 32 nodos internos → 1 raíz: altura 3</a:t>
            </a:r>
            <a:endParaRPr/>
          </a:p>
        </p:txBody>
      </p:sp>
      <p:sp>
        <p:nvSpPr>
          <p:cNvPr id="357" name="Google Shape;357;p9"/>
          <p:cNvSpPr txBox="1"/>
          <p:nvPr/>
        </p:nvSpPr>
        <p:spPr>
          <a:xfrm>
            <a:off x="665481" y="4399809"/>
            <a:ext cx="117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O(log_f n + k)</a:t>
            </a:r>
            <a:endParaRPr/>
          </a:p>
        </p:txBody>
      </p:sp>
      <p:sp>
        <p:nvSpPr>
          <p:cNvPr id="358" name="Google Shape;358;p9"/>
          <p:cNvSpPr txBox="1"/>
          <p:nvPr/>
        </p:nvSpPr>
        <p:spPr>
          <a:xfrm>
            <a:off x="1906682" y="4353614"/>
            <a:ext cx="29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Una búsqueda lee 3 páginas hasta la hoja y luego solo las hojas del rango.</a:t>
            </a:r>
            <a:endParaRPr/>
          </a:p>
        </p:txBody>
      </p:sp>
      <p:sp>
        <p:nvSpPr>
          <p:cNvPr id="359" name="Google Shape;359;p9"/>
          <p:cNvSpPr txBox="1"/>
          <p:nvPr/>
        </p:nvSpPr>
        <p:spPr>
          <a:xfrm>
            <a:off x="5552194" y="4534953"/>
            <a:ext cx="2517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Peso en disco</a:t>
            </a:r>
            <a:r>
              <a:rPr b="0" i="0" lang="es" sz="900" u="none" cap="none" strike="noStrike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: 1.558 páginas × 4 KB = 6,4 MB</a:t>
            </a:r>
            <a:endParaRPr/>
          </a:p>
        </p:txBody>
      </p:sp>
      <p:pic>
        <p:nvPicPr>
          <p:cNvPr id="360" name="Google Shape;36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7375" y="3117497"/>
            <a:ext cx="2015708" cy="1253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9"/>
          <p:cNvSpPr txBox="1"/>
          <p:nvPr/>
        </p:nvSpPr>
        <p:spPr>
          <a:xfrm>
            <a:off x="454630" y="1064234"/>
            <a:ext cx="25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E4B4C"/>
                </a:solidFill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rPr>
              <a:t>Buscar sin recorrer todo </a:t>
            </a:r>
            <a:endParaRPr b="1"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2bfabe37e835229a_1_2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7" name="Google Shape;367;h2bfabe37e835229a_1_243"/>
          <p:cNvSpPr txBox="1"/>
          <p:nvPr/>
        </p:nvSpPr>
        <p:spPr>
          <a:xfrm>
            <a:off x="548640" y="841248"/>
            <a:ext cx="804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5 · KD-Tree: vecinos cercanos sin medirlos todos</a:t>
            </a:r>
            <a:endParaRPr/>
          </a:p>
        </p:txBody>
      </p:sp>
      <p:sp>
        <p:nvSpPr>
          <p:cNvPr id="368" name="Google Shape;368;h2bfabe37e835229a_1_243"/>
          <p:cNvSpPr txBox="1"/>
          <p:nvPr/>
        </p:nvSpPr>
        <p:spPr>
          <a:xfrm>
            <a:off x="454630" y="1101847"/>
            <a:ext cx="25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4E4B4C"/>
                </a:solidFill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rPr>
              <a:t>Buscar sin recorrer todo </a:t>
            </a:r>
            <a:endParaRPr b="1">
              <a:highlight>
                <a:schemeClr val="lt2"/>
              </a:highlight>
            </a:endParaRPr>
          </a:p>
        </p:txBody>
      </p:sp>
      <p:sp>
        <p:nvSpPr>
          <p:cNvPr id="369" name="Google Shape;369;h2bfabe37e835229a_1_243"/>
          <p:cNvSpPr txBox="1"/>
          <p:nvPr/>
        </p:nvSpPr>
        <p:spPr>
          <a:xfrm>
            <a:off x="529026" y="1540079"/>
            <a:ext cx="777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 </a:t>
            </a:r>
            <a:r>
              <a:rPr b="0" i="0" lang="es" sz="1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encontrar los productos más parecidos a Q = (4, 6). Cada producto es un punto (precio, popularidad).</a:t>
            </a:r>
            <a:endParaRPr/>
          </a:p>
        </p:txBody>
      </p:sp>
      <p:cxnSp>
        <p:nvCxnSpPr>
          <p:cNvPr id="370" name="Google Shape;370;h2bfabe37e835229a_1_243"/>
          <p:cNvCxnSpPr/>
          <p:nvPr/>
        </p:nvCxnSpPr>
        <p:spPr>
          <a:xfrm flipH="1">
            <a:off x="1691580" y="2408759"/>
            <a:ext cx="1234500" cy="365700"/>
          </a:xfrm>
          <a:prstGeom prst="straightConnector1">
            <a:avLst/>
          </a:prstGeom>
          <a:noFill/>
          <a:ln cap="flat" cmpd="sng" w="28575">
            <a:solidFill>
              <a:srgbClr val="00E1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h2bfabe37e835229a_1_243"/>
          <p:cNvCxnSpPr/>
          <p:nvPr/>
        </p:nvCxnSpPr>
        <p:spPr>
          <a:xfrm>
            <a:off x="2926080" y="2408759"/>
            <a:ext cx="1280100" cy="3657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2" name="Google Shape;372;h2bfabe37e835229a_1_243"/>
          <p:cNvCxnSpPr/>
          <p:nvPr/>
        </p:nvCxnSpPr>
        <p:spPr>
          <a:xfrm flipH="1">
            <a:off x="1097340" y="3231719"/>
            <a:ext cx="594300" cy="3657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3" name="Google Shape;373;h2bfabe37e835229a_1_243"/>
          <p:cNvCxnSpPr/>
          <p:nvPr/>
        </p:nvCxnSpPr>
        <p:spPr>
          <a:xfrm>
            <a:off x="1691640" y="3231719"/>
            <a:ext cx="594300" cy="365700"/>
          </a:xfrm>
          <a:prstGeom prst="straightConnector1">
            <a:avLst/>
          </a:prstGeom>
          <a:noFill/>
          <a:ln cap="flat" cmpd="sng" w="28575">
            <a:solidFill>
              <a:srgbClr val="00E1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h2bfabe37e835229a_1_243"/>
          <p:cNvCxnSpPr/>
          <p:nvPr/>
        </p:nvCxnSpPr>
        <p:spPr>
          <a:xfrm flipH="1">
            <a:off x="3566040" y="3231719"/>
            <a:ext cx="640200" cy="36570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5" name="Google Shape;375;h2bfabe37e835229a_1_243"/>
          <p:cNvSpPr/>
          <p:nvPr/>
        </p:nvSpPr>
        <p:spPr>
          <a:xfrm>
            <a:off x="2400300" y="1951559"/>
            <a:ext cx="105150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F (7, 2)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7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corta: precio = 7</a:t>
            </a:r>
            <a:endParaRPr/>
          </a:p>
        </p:txBody>
      </p:sp>
      <p:sp>
        <p:nvSpPr>
          <p:cNvPr id="376" name="Google Shape;376;h2bfabe37e835229a_1_243"/>
          <p:cNvSpPr/>
          <p:nvPr/>
        </p:nvSpPr>
        <p:spPr>
          <a:xfrm>
            <a:off x="1165860" y="2774519"/>
            <a:ext cx="105150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B (5, 4)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7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corta: popul. = 4</a:t>
            </a:r>
            <a:endParaRPr/>
          </a:p>
        </p:txBody>
      </p:sp>
      <p:sp>
        <p:nvSpPr>
          <p:cNvPr id="377" name="Google Shape;377;h2bfabe37e835229a_1_243"/>
          <p:cNvSpPr/>
          <p:nvPr/>
        </p:nvSpPr>
        <p:spPr>
          <a:xfrm>
            <a:off x="3680459" y="2774519"/>
            <a:ext cx="1051500" cy="4572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 (9, 6)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75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corta: popul. = 6</a:t>
            </a:r>
            <a:endParaRPr/>
          </a:p>
        </p:txBody>
      </p:sp>
      <p:sp>
        <p:nvSpPr>
          <p:cNvPr id="378" name="Google Shape;378;h2bfabe37e835229a_1_243"/>
          <p:cNvSpPr/>
          <p:nvPr/>
        </p:nvSpPr>
        <p:spPr>
          <a:xfrm>
            <a:off x="571500" y="3597479"/>
            <a:ext cx="1051500" cy="4572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(2, 3)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75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hoja</a:t>
            </a:r>
            <a:endParaRPr/>
          </a:p>
        </p:txBody>
      </p:sp>
      <p:sp>
        <p:nvSpPr>
          <p:cNvPr id="379" name="Google Shape;379;h2bfabe37e835229a_1_243"/>
          <p:cNvSpPr/>
          <p:nvPr/>
        </p:nvSpPr>
        <p:spPr>
          <a:xfrm>
            <a:off x="1760220" y="3597479"/>
            <a:ext cx="1051500" cy="457200"/>
          </a:xfrm>
          <a:prstGeom prst="roundRect">
            <a:avLst>
              <a:gd fmla="val 12000" name="adj"/>
            </a:avLst>
          </a:prstGeom>
          <a:solidFill>
            <a:srgbClr val="00E1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 (4, 7)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7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hoja · vecino</a:t>
            </a:r>
            <a:endParaRPr/>
          </a:p>
        </p:txBody>
      </p:sp>
      <p:sp>
        <p:nvSpPr>
          <p:cNvPr id="380" name="Google Shape;380;h2bfabe37e835229a_1_243"/>
          <p:cNvSpPr/>
          <p:nvPr/>
        </p:nvSpPr>
        <p:spPr>
          <a:xfrm>
            <a:off x="3040380" y="3597479"/>
            <a:ext cx="1051500" cy="4572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E (8, 1)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75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hoja</a:t>
            </a:r>
            <a:endParaRPr/>
          </a:p>
        </p:txBody>
      </p:sp>
      <p:sp>
        <p:nvSpPr>
          <p:cNvPr id="381" name="Google Shape;381;h2bfabe37e835229a_1_243"/>
          <p:cNvSpPr txBox="1"/>
          <p:nvPr/>
        </p:nvSpPr>
        <p:spPr>
          <a:xfrm>
            <a:off x="1280160" y="2472767"/>
            <a:ext cx="960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EEEE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precio &lt; 7</a:t>
            </a:r>
            <a:endParaRPr/>
          </a:p>
        </p:txBody>
      </p:sp>
      <p:sp>
        <p:nvSpPr>
          <p:cNvPr id="382" name="Google Shape;382;h2bfabe37e835229a_1_243"/>
          <p:cNvSpPr txBox="1"/>
          <p:nvPr/>
        </p:nvSpPr>
        <p:spPr>
          <a:xfrm>
            <a:off x="3611880" y="2472767"/>
            <a:ext cx="960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EEEE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precio ≥ 7</a:t>
            </a:r>
            <a:endParaRPr/>
          </a:p>
        </p:txBody>
      </p:sp>
      <p:sp>
        <p:nvSpPr>
          <p:cNvPr id="383" name="Google Shape;383;h2bfabe37e835229a_1_243"/>
          <p:cNvSpPr txBox="1"/>
          <p:nvPr/>
        </p:nvSpPr>
        <p:spPr>
          <a:xfrm>
            <a:off x="548640" y="3295727"/>
            <a:ext cx="77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EEEE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popul. &lt; 4</a:t>
            </a:r>
            <a:endParaRPr/>
          </a:p>
        </p:txBody>
      </p:sp>
      <p:sp>
        <p:nvSpPr>
          <p:cNvPr id="384" name="Google Shape;384;h2bfabe37e835229a_1_243"/>
          <p:cNvSpPr txBox="1"/>
          <p:nvPr/>
        </p:nvSpPr>
        <p:spPr>
          <a:xfrm>
            <a:off x="2057400" y="3295727"/>
            <a:ext cx="822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EEEE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popul. ≥ 4</a:t>
            </a:r>
            <a:endParaRPr/>
          </a:p>
        </p:txBody>
      </p:sp>
      <p:sp>
        <p:nvSpPr>
          <p:cNvPr id="385" name="Google Shape;385;h2bfabe37e835229a_1_243"/>
          <p:cNvSpPr txBox="1"/>
          <p:nvPr/>
        </p:nvSpPr>
        <p:spPr>
          <a:xfrm>
            <a:off x="3017520" y="3295727"/>
            <a:ext cx="822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EEEE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popul. &lt; 6</a:t>
            </a:r>
            <a:endParaRPr/>
          </a:p>
        </p:txBody>
      </p:sp>
      <p:sp>
        <p:nvSpPr>
          <p:cNvPr id="386" name="Google Shape;386;h2bfabe37e835229a_1_243"/>
          <p:cNvSpPr txBox="1"/>
          <p:nvPr/>
        </p:nvSpPr>
        <p:spPr>
          <a:xfrm>
            <a:off x="548640" y="4212433"/>
            <a:ext cx="4572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Construir: </a:t>
            </a:r>
            <a:r>
              <a:rPr b="0" i="0" lang="es" sz="850" u="none" cap="none" strike="noStrike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la raíz es la mediana por precio (F); cada mitad se corta por la mediana de popularidad (B y C). Cian = camino de Q · gris = podado.</a:t>
            </a:r>
            <a:endParaRPr/>
          </a:p>
        </p:txBody>
      </p:sp>
      <p:sp>
        <p:nvSpPr>
          <p:cNvPr id="387" name="Google Shape;387;h2bfabe37e835229a_1_243"/>
          <p:cNvSpPr/>
          <p:nvPr/>
        </p:nvSpPr>
        <p:spPr>
          <a:xfrm>
            <a:off x="5349240" y="1924127"/>
            <a:ext cx="3246000" cy="14172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h2bfabe37e835229a_1_243"/>
          <p:cNvSpPr txBox="1"/>
          <p:nvPr/>
        </p:nvSpPr>
        <p:spPr>
          <a:xfrm>
            <a:off x="5532120" y="2026751"/>
            <a:ext cx="2926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BUSCAR Q = (4, 6)</a:t>
            </a:r>
            <a:endParaRPr/>
          </a:p>
        </p:txBody>
      </p:sp>
      <p:sp>
        <p:nvSpPr>
          <p:cNvPr id="389" name="Google Shape;389;h2bfabe37e835229a_1_243"/>
          <p:cNvSpPr txBox="1"/>
          <p:nvPr/>
        </p:nvSpPr>
        <p:spPr>
          <a:xfrm>
            <a:off x="5532120" y="2244167"/>
            <a:ext cx="29718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F: </a:t>
            </a:r>
            <a:r>
              <a:rPr b="0" i="0" lang="es" sz="9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4 &lt; 7 → izquierda · distancia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B: </a:t>
            </a:r>
            <a:r>
              <a:rPr b="0" i="0" lang="es" sz="9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6 ≥ 4 → derecha · distancia 2,24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D: hoja · distancia 1 ← mejor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A1A0A0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A: </a:t>
            </a:r>
            <a:r>
              <a:rPr b="0" i="0" lang="es" sz="9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su corte está a 2 &gt; 1 → se poda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A1A0A0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C, E: </a:t>
            </a:r>
            <a:r>
              <a:rPr b="0" i="0" lang="es" sz="9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su corte está a 3 &gt; 1 → se podan</a:t>
            </a:r>
            <a:endParaRPr/>
          </a:p>
        </p:txBody>
      </p:sp>
      <p:sp>
        <p:nvSpPr>
          <p:cNvPr id="390" name="Google Shape;390;h2bfabe37e835229a_1_243"/>
          <p:cNvSpPr/>
          <p:nvPr/>
        </p:nvSpPr>
        <p:spPr>
          <a:xfrm>
            <a:off x="5349240" y="3517515"/>
            <a:ext cx="3246000" cy="10515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h2bfabe37e835229a_1_243"/>
          <p:cNvSpPr txBox="1"/>
          <p:nvPr/>
        </p:nvSpPr>
        <p:spPr>
          <a:xfrm>
            <a:off x="5532120" y="3600070"/>
            <a:ext cx="2926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 EN EL PROYECTO</a:t>
            </a:r>
            <a:endParaRPr/>
          </a:p>
        </p:txBody>
      </p:sp>
      <p:sp>
        <p:nvSpPr>
          <p:cNvPr id="392" name="Google Shape;392;h2bfabe37e835229a_1_243"/>
          <p:cNvSpPr txBox="1"/>
          <p:nvPr/>
        </p:nvSpPr>
        <p:spPr>
          <a:xfrm>
            <a:off x="5532120" y="3791835"/>
            <a:ext cx="100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5 de 5</a:t>
            </a:r>
            <a:endParaRPr/>
          </a:p>
        </p:txBody>
      </p:sp>
      <p:sp>
        <p:nvSpPr>
          <p:cNvPr id="393" name="Google Shape;393;h2bfabe37e835229a_1_243"/>
          <p:cNvSpPr txBox="1"/>
          <p:nvPr/>
        </p:nvSpPr>
        <p:spPr>
          <a:xfrm>
            <a:off x="6537960" y="3819267"/>
            <a:ext cx="196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vecinos iguales a la fuerza bruta (3.000 productos)</a:t>
            </a:r>
            <a:endParaRPr/>
          </a:p>
        </p:txBody>
      </p:sp>
      <p:sp>
        <p:nvSpPr>
          <p:cNvPr id="394" name="Google Shape;394;h2bfabe37e835229a_1_243"/>
          <p:cNvSpPr txBox="1"/>
          <p:nvPr/>
        </p:nvSpPr>
        <p:spPr>
          <a:xfrm>
            <a:off x="5532120" y="4297864"/>
            <a:ext cx="2971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EEEEEE"/>
                </a:solidFill>
                <a:latin typeface="Space Grotesk"/>
                <a:ea typeface="Space Grotesk"/>
                <a:cs typeface="Space Grotesk"/>
                <a:sym typeface="Space Grotesk"/>
              </a:rPr>
              <a:t>O(log n) en 2D vs O(n·d) de la fuerza bruta.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0" name="Google Shape;400;p12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6 · Bloom y Count-Min: memoria fija, error acotado</a:t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548640" y="1371600"/>
            <a:ext cx="3886200" cy="22402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685800" y="1463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 Filter · ¿ya lo vimos?</a:t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685800" y="1783080"/>
            <a:ext cx="731520" cy="256032"/>
          </a:xfrm>
          <a:prstGeom prst="rect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dev-42</a:t>
            </a:r>
            <a:endParaRPr/>
          </a:p>
        </p:txBody>
      </p:sp>
      <p:sp>
        <p:nvSpPr>
          <p:cNvPr id="404" name="Google Shape;404;p12"/>
          <p:cNvSpPr txBox="1"/>
          <p:nvPr/>
        </p:nvSpPr>
        <p:spPr>
          <a:xfrm>
            <a:off x="1508760" y="181051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agregar: 3 hashes ponen en 1 los bits 1, 4 y 7</a:t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685800" y="2240280"/>
            <a:ext cx="274320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987552" y="2240280"/>
            <a:ext cx="274320" cy="27432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1289304" y="2240280"/>
            <a:ext cx="274320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1591056" y="2240280"/>
            <a:ext cx="274320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1892808" y="2240280"/>
            <a:ext cx="274320" cy="27432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2194560" y="2240280"/>
            <a:ext cx="274320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2496312" y="2240280"/>
            <a:ext cx="274320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2798064" y="2240280"/>
            <a:ext cx="274320" cy="27432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3099816" y="2240280"/>
            <a:ext cx="274320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3401568" y="2240280"/>
            <a:ext cx="274320" cy="27432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3703320" y="2240280"/>
            <a:ext cx="274320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4005072" y="2240280"/>
            <a:ext cx="274320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cxnSp>
        <p:nvCxnSpPr>
          <p:cNvPr id="417" name="Google Shape;417;p12"/>
          <p:cNvCxnSpPr/>
          <p:nvPr/>
        </p:nvCxnSpPr>
        <p:spPr>
          <a:xfrm>
            <a:off x="1051560" y="2039112"/>
            <a:ext cx="73152" cy="201168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8" name="Google Shape;418;p12"/>
          <p:cNvCxnSpPr/>
          <p:nvPr/>
        </p:nvCxnSpPr>
        <p:spPr>
          <a:xfrm>
            <a:off x="1051560" y="2039112"/>
            <a:ext cx="978408" cy="201168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9" name="Google Shape;419;p12"/>
          <p:cNvCxnSpPr/>
          <p:nvPr/>
        </p:nvCxnSpPr>
        <p:spPr>
          <a:xfrm>
            <a:off x="1051560" y="2039112"/>
            <a:ext cx="1883664" cy="201168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0" name="Google Shape;420;p12"/>
          <p:cNvSpPr txBox="1"/>
          <p:nvPr/>
        </p:nvSpPr>
        <p:spPr>
          <a:xfrm>
            <a:off x="685800" y="2651760"/>
            <a:ext cx="36576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" sz="10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100.000 miembros, error 1 %: 9,585 bits/miembro · m = 958.506 · k = 7</a:t>
            </a:r>
            <a:endParaRPr b="1" sz="900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consultar: </a:t>
            </a:r>
            <a:r>
              <a:rPr b="0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 algún bit está en 0 → no está (seguro).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 todos están en 1 → quizá está: </a:t>
            </a:r>
            <a:r>
              <a:rPr b="0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puede ser falso positivo.</a:t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4663440" y="1371600"/>
            <a:ext cx="3886200" cy="22402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4800600" y="1463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Count-Min Sketch · ¿cuántas veces?</a:t>
            </a:r>
            <a:endParaRPr/>
          </a:p>
        </p:txBody>
      </p:sp>
      <p:sp>
        <p:nvSpPr>
          <p:cNvPr id="423" name="Google Shape;423;p12"/>
          <p:cNvSpPr txBox="1"/>
          <p:nvPr/>
        </p:nvSpPr>
        <p:spPr>
          <a:xfrm>
            <a:off x="4800600" y="181051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h1</a:t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5120640" y="178308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5504688" y="178308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5888736" y="178308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6272783" y="1783080"/>
            <a:ext cx="365760" cy="256032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6656831" y="178308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7040879" y="178308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7424927" y="178308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7808975" y="178308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32" name="Google Shape;432;p12"/>
          <p:cNvSpPr txBox="1"/>
          <p:nvPr/>
        </p:nvSpPr>
        <p:spPr>
          <a:xfrm>
            <a:off x="4800600" y="2084831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h2</a:t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5120640" y="205740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5504688" y="205740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5888736" y="205740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6272783" y="205740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6656831" y="205740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7040879" y="205740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7424927" y="2057400"/>
            <a:ext cx="365760" cy="256032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7808975" y="205740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41" name="Google Shape;441;p12"/>
          <p:cNvSpPr txBox="1"/>
          <p:nvPr/>
        </p:nvSpPr>
        <p:spPr>
          <a:xfrm>
            <a:off x="4800600" y="23591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h3</a:t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5120640" y="233172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5504688" y="2331720"/>
            <a:ext cx="365760" cy="256032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7</a:t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5888736" y="233172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6272783" y="233172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6656831" y="233172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7040879" y="233172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7424927" y="233172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7808975" y="2331720"/>
            <a:ext cx="365760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450" name="Google Shape;450;p12"/>
          <p:cNvSpPr txBox="1"/>
          <p:nvPr/>
        </p:nvSpPr>
        <p:spPr>
          <a:xfrm>
            <a:off x="4800600" y="26974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agregar(u17|14h): </a:t>
            </a:r>
            <a:r>
              <a:rPr b="0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+1 en una celda por fila.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estimar = mín(5, 4, 7) = 4. </a:t>
            </a:r>
            <a:r>
              <a:rPr b="0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Las colisiones solo suman: sobreestima, nunca subestima.</a:t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548640" y="3721608"/>
            <a:ext cx="8001000" cy="621792"/>
          </a:xfrm>
          <a:prstGeom prst="roundRect">
            <a:avLst>
              <a:gd fmla="val 12000" name="adj"/>
            </a:avLst>
          </a:prstGeom>
          <a:solidFill>
            <a:srgbClr val="4D4B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1597271" y="3776472"/>
            <a:ext cx="246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0,69–1,30 %</a:t>
            </a:r>
            <a:endParaRPr/>
          </a:p>
        </p:txBody>
      </p:sp>
      <p:sp>
        <p:nvSpPr>
          <p:cNvPr id="453" name="Google Shape;453;p12"/>
          <p:cNvSpPr txBox="1"/>
          <p:nvPr/>
        </p:nvSpPr>
        <p:spPr>
          <a:xfrm>
            <a:off x="1597271" y="4005072"/>
            <a:ext cx="25146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falsos positivos de Bloom, diseño 1 %, de 1K a 1M</a:t>
            </a:r>
            <a:endParaRPr/>
          </a:p>
        </p:txBody>
      </p:sp>
      <p:sp>
        <p:nvSpPr>
          <p:cNvPr id="454" name="Google Shape;454;p12"/>
          <p:cNvSpPr txBox="1"/>
          <p:nvPr/>
        </p:nvSpPr>
        <p:spPr>
          <a:xfrm>
            <a:off x="4558650" y="3776472"/>
            <a:ext cx="246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0,03 MB</a:t>
            </a:r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4558650" y="4005072"/>
            <a:ext cx="251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 en 1M; construir el set exacto midió 40,6 MB</a:t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miguel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62" name="Google Shape;462;p13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6 · Una señal probabilística no confirma fraude</a:t>
            </a:r>
            <a:endParaRPr/>
          </a:p>
        </p:txBody>
      </p:sp>
      <p:sp>
        <p:nvSpPr>
          <p:cNvPr id="463" name="Google Shape;463;p13"/>
          <p:cNvSpPr txBox="1"/>
          <p:nvPr/>
        </p:nvSpPr>
        <p:spPr>
          <a:xfrm>
            <a:off x="548640" y="13716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CÓMO SE DECIDE UNA COMPRA</a:t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548640" y="1645920"/>
            <a:ext cx="2377440" cy="603504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 Filter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¿dispositivo o pago ya señalado?</a:t>
            </a:r>
            <a:endParaRPr/>
          </a:p>
        </p:txBody>
      </p:sp>
      <p:cxnSp>
        <p:nvCxnSpPr>
          <p:cNvPr id="465" name="Google Shape;465;p13"/>
          <p:cNvCxnSpPr/>
          <p:nvPr/>
        </p:nvCxnSpPr>
        <p:spPr>
          <a:xfrm>
            <a:off x="1737360" y="2249424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6" name="Google Shape;466;p13"/>
          <p:cNvSpPr/>
          <p:nvPr/>
        </p:nvSpPr>
        <p:spPr>
          <a:xfrm>
            <a:off x="548640" y="2432304"/>
            <a:ext cx="2377440" cy="603504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Count-Min Sketch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¿compras usuario|hora ≥ 8?</a:t>
            </a:r>
            <a:endParaRPr/>
          </a:p>
        </p:txBody>
      </p:sp>
      <p:cxnSp>
        <p:nvCxnSpPr>
          <p:cNvPr id="467" name="Google Shape;467;p13"/>
          <p:cNvCxnSpPr/>
          <p:nvPr/>
        </p:nvCxnSpPr>
        <p:spPr>
          <a:xfrm>
            <a:off x="1737360" y="3035808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8" name="Google Shape;468;p13"/>
          <p:cNvSpPr/>
          <p:nvPr/>
        </p:nvSpPr>
        <p:spPr>
          <a:xfrm>
            <a:off x="548640" y="3218688"/>
            <a:ext cx="2377440" cy="603504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Conjunto exacto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¿fraude confirmado?</a:t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3246120" y="1737360"/>
            <a:ext cx="1005840" cy="41148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revisar</a:t>
            </a:r>
            <a:endParaRPr/>
          </a:p>
        </p:txBody>
      </p:sp>
      <p:cxnSp>
        <p:nvCxnSpPr>
          <p:cNvPr id="470" name="Google Shape;470;p13"/>
          <p:cNvCxnSpPr/>
          <p:nvPr/>
        </p:nvCxnSpPr>
        <p:spPr>
          <a:xfrm>
            <a:off x="2926080" y="1947672"/>
            <a:ext cx="320040" cy="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1" name="Google Shape;471;p13"/>
          <p:cNvSpPr/>
          <p:nvPr/>
        </p:nvSpPr>
        <p:spPr>
          <a:xfrm>
            <a:off x="3246120" y="2523744"/>
            <a:ext cx="1005840" cy="41148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revisar</a:t>
            </a:r>
            <a:endParaRPr/>
          </a:p>
        </p:txBody>
      </p:sp>
      <p:cxnSp>
        <p:nvCxnSpPr>
          <p:cNvPr id="472" name="Google Shape;472;p13"/>
          <p:cNvCxnSpPr/>
          <p:nvPr/>
        </p:nvCxnSpPr>
        <p:spPr>
          <a:xfrm>
            <a:off x="2926080" y="2734056"/>
            <a:ext cx="320040" cy="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3" name="Google Shape;473;p13"/>
          <p:cNvSpPr/>
          <p:nvPr/>
        </p:nvSpPr>
        <p:spPr>
          <a:xfrm>
            <a:off x="3246120" y="3310128"/>
            <a:ext cx="1005840" cy="411480"/>
          </a:xfrm>
          <a:prstGeom prst="roundRect">
            <a:avLst>
              <a:gd fmla="val 12000" name="adj"/>
            </a:avLst>
          </a:prstGeom>
          <a:solidFill>
            <a:srgbClr val="00E1FF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bloquear</a:t>
            </a:r>
            <a:endParaRPr/>
          </a:p>
        </p:txBody>
      </p:sp>
      <p:cxnSp>
        <p:nvCxnSpPr>
          <p:cNvPr id="474" name="Google Shape;474;p13"/>
          <p:cNvCxnSpPr/>
          <p:nvPr/>
        </p:nvCxnSpPr>
        <p:spPr>
          <a:xfrm>
            <a:off x="2926080" y="3520439"/>
            <a:ext cx="320040" cy="0"/>
          </a:xfrm>
          <a:prstGeom prst="straightConnector1">
            <a:avLst/>
          </a:prstGeom>
          <a:noFill/>
          <a:ln cap="flat" cmpd="sng" w="15875">
            <a:solidFill>
              <a:srgbClr val="A1A0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5" name="Google Shape;475;p13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Sin ninguna señal → permitir, y la compra pasa al grafo de co-compra.</a:t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5349240" y="1371600"/>
            <a:ext cx="3246120" cy="29718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3"/>
          <p:cNvSpPr txBox="1"/>
          <p:nvPr/>
        </p:nvSpPr>
        <p:spPr>
          <a:xfrm>
            <a:off x="5532120" y="1499616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 · STREAM FULL</a:t>
            </a:r>
            <a:endParaRPr/>
          </a:p>
        </p:txBody>
      </p:sp>
      <p:sp>
        <p:nvSpPr>
          <p:cNvPr id="478" name="Google Shape;478;p13"/>
          <p:cNvSpPr txBox="1"/>
          <p:nvPr/>
        </p:nvSpPr>
        <p:spPr>
          <a:xfrm>
            <a:off x="5532120" y="17830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740</a:t>
            </a:r>
            <a:endParaRPr/>
          </a:p>
        </p:txBody>
      </p:sp>
      <p:sp>
        <p:nvSpPr>
          <p:cNvPr id="479" name="Google Shape;479;p13"/>
          <p:cNvSpPr txBox="1"/>
          <p:nvPr/>
        </p:nvSpPr>
        <p:spPr>
          <a:xfrm>
            <a:off x="5532120" y="217627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compras bloqueadas: confirmadas con el conjunto exacto</a:t>
            </a:r>
            <a:endParaRPr/>
          </a:p>
        </p:txBody>
      </p:sp>
      <p:sp>
        <p:nvSpPr>
          <p:cNvPr id="480" name="Google Shape;480;p13"/>
          <p:cNvSpPr txBox="1"/>
          <p:nvPr/>
        </p:nvSpPr>
        <p:spPr>
          <a:xfrm>
            <a:off x="5532120" y="2679191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67.138</a:t>
            </a:r>
            <a:endParaRPr/>
          </a:p>
        </p:txBody>
      </p:sp>
      <p:sp>
        <p:nvSpPr>
          <p:cNvPr id="481" name="Google Shape;481;p13"/>
          <p:cNvSpPr txBox="1"/>
          <p:nvPr/>
        </p:nvSpPr>
        <p:spPr>
          <a:xfrm>
            <a:off x="5532120" y="307238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compras a revisar por una señal de Bloom o Count-Min</a:t>
            </a:r>
            <a:endParaRPr/>
          </a:p>
        </p:txBody>
      </p:sp>
      <p:sp>
        <p:nvSpPr>
          <p:cNvPr id="482" name="Google Shape;482;p13"/>
          <p:cNvSpPr txBox="1"/>
          <p:nvPr/>
        </p:nvSpPr>
        <p:spPr>
          <a:xfrm>
            <a:off x="5532120" y="384048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Etiquetas de fraude sintéticas (huella SHA-256): flujo ilustrativo, no un detector validado.</a:t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miguel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89" name="Google Shape;489;p15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7 · HNSW: búsqueda por capas en un grafo de vecinos</a:t>
            </a:r>
            <a:endParaRPr/>
          </a:p>
        </p:txBody>
      </p:sp>
      <p:sp>
        <p:nvSpPr>
          <p:cNvPr id="490" name="Google Shape;490;p15"/>
          <p:cNvSpPr txBox="1"/>
          <p:nvPr/>
        </p:nvSpPr>
        <p:spPr>
          <a:xfrm>
            <a:off x="548640" y="13716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CÓMO FUNCIONA</a:t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548640" y="1645920"/>
            <a:ext cx="3291840" cy="64008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5"/>
          <p:cNvSpPr txBox="1"/>
          <p:nvPr/>
        </p:nvSpPr>
        <p:spPr>
          <a:xfrm>
            <a:off x="621792" y="1682496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capa 2</a:t>
            </a:r>
            <a:endParaRPr/>
          </a:p>
        </p:txBody>
      </p:sp>
      <p:cxnSp>
        <p:nvCxnSpPr>
          <p:cNvPr id="493" name="Google Shape;493;p15"/>
          <p:cNvCxnSpPr/>
          <p:nvPr/>
        </p:nvCxnSpPr>
        <p:spPr>
          <a:xfrm rot="10800000">
            <a:off x="1737360" y="1965960"/>
            <a:ext cx="896112" cy="0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15"/>
          <p:cNvSpPr/>
          <p:nvPr/>
        </p:nvSpPr>
        <p:spPr>
          <a:xfrm>
            <a:off x="2578608" y="1911095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1682495" y="1911095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548640" y="2395728"/>
            <a:ext cx="3291840" cy="64008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5"/>
          <p:cNvSpPr txBox="1"/>
          <p:nvPr/>
        </p:nvSpPr>
        <p:spPr>
          <a:xfrm>
            <a:off x="621792" y="2432304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capa 1</a:t>
            </a:r>
            <a:endParaRPr/>
          </a:p>
        </p:txBody>
      </p:sp>
      <p:cxnSp>
        <p:nvCxnSpPr>
          <p:cNvPr id="498" name="Google Shape;498;p15"/>
          <p:cNvCxnSpPr/>
          <p:nvPr/>
        </p:nvCxnSpPr>
        <p:spPr>
          <a:xfrm flipH="1" rot="10800000">
            <a:off x="1737360" y="2619756"/>
            <a:ext cx="512064" cy="96012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15"/>
          <p:cNvCxnSpPr/>
          <p:nvPr/>
        </p:nvCxnSpPr>
        <p:spPr>
          <a:xfrm>
            <a:off x="2249424" y="2619756"/>
            <a:ext cx="640079" cy="160020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15"/>
          <p:cNvCxnSpPr/>
          <p:nvPr/>
        </p:nvCxnSpPr>
        <p:spPr>
          <a:xfrm flipH="1" rot="10800000">
            <a:off x="2889503" y="2651760"/>
            <a:ext cx="512065" cy="128016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15"/>
          <p:cNvSpPr/>
          <p:nvPr/>
        </p:nvSpPr>
        <p:spPr>
          <a:xfrm>
            <a:off x="1682495" y="266090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2194560" y="256489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2834639" y="272491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3346703" y="259689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548640" y="3145536"/>
            <a:ext cx="3291840" cy="64008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5"/>
          <p:cNvSpPr txBox="1"/>
          <p:nvPr/>
        </p:nvSpPr>
        <p:spPr>
          <a:xfrm>
            <a:off x="621792" y="3182112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capa 0</a:t>
            </a:r>
            <a:endParaRPr/>
          </a:p>
        </p:txBody>
      </p:sp>
      <p:cxnSp>
        <p:nvCxnSpPr>
          <p:cNvPr id="507" name="Google Shape;507;p15"/>
          <p:cNvCxnSpPr/>
          <p:nvPr/>
        </p:nvCxnSpPr>
        <p:spPr>
          <a:xfrm>
            <a:off x="1353312" y="3401568"/>
            <a:ext cx="384048" cy="160020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15"/>
          <p:cNvCxnSpPr/>
          <p:nvPr/>
        </p:nvCxnSpPr>
        <p:spPr>
          <a:xfrm flipH="1" rot="10800000">
            <a:off x="1737360" y="3337560"/>
            <a:ext cx="384048" cy="224028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15"/>
          <p:cNvCxnSpPr/>
          <p:nvPr/>
        </p:nvCxnSpPr>
        <p:spPr>
          <a:xfrm>
            <a:off x="2121408" y="3337560"/>
            <a:ext cx="307238" cy="256031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15"/>
          <p:cNvCxnSpPr/>
          <p:nvPr/>
        </p:nvCxnSpPr>
        <p:spPr>
          <a:xfrm flipH="1" rot="10800000">
            <a:off x="2428646" y="3369564"/>
            <a:ext cx="358445" cy="224027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15"/>
          <p:cNvCxnSpPr/>
          <p:nvPr/>
        </p:nvCxnSpPr>
        <p:spPr>
          <a:xfrm>
            <a:off x="2787091" y="3369564"/>
            <a:ext cx="307238" cy="160020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15"/>
          <p:cNvCxnSpPr/>
          <p:nvPr/>
        </p:nvCxnSpPr>
        <p:spPr>
          <a:xfrm flipH="1" rot="10800000">
            <a:off x="3094329" y="3433572"/>
            <a:ext cx="307239" cy="96012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15"/>
          <p:cNvSpPr/>
          <p:nvPr/>
        </p:nvSpPr>
        <p:spPr>
          <a:xfrm>
            <a:off x="1298448" y="3346703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1682495" y="350672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2066543" y="328269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2373782" y="35387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2732227" y="331470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3039465" y="34747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3346703" y="3378708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0" name="Google Shape;520;p15"/>
          <p:cNvCxnSpPr/>
          <p:nvPr/>
        </p:nvCxnSpPr>
        <p:spPr>
          <a:xfrm rot="10800000">
            <a:off x="1801368" y="1965960"/>
            <a:ext cx="832104" cy="0"/>
          </a:xfrm>
          <a:prstGeom prst="straightConnector1">
            <a:avLst/>
          </a:prstGeom>
          <a:noFill/>
          <a:ln cap="flat" cmpd="sng" w="25400">
            <a:solidFill>
              <a:srgbClr val="00E1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1" name="Google Shape;521;p15"/>
          <p:cNvCxnSpPr/>
          <p:nvPr/>
        </p:nvCxnSpPr>
        <p:spPr>
          <a:xfrm>
            <a:off x="1737360" y="2029967"/>
            <a:ext cx="0" cy="621793"/>
          </a:xfrm>
          <a:prstGeom prst="straightConnector1">
            <a:avLst/>
          </a:prstGeom>
          <a:noFill/>
          <a:ln cap="flat" cmpd="sng" w="19050">
            <a:solidFill>
              <a:srgbClr val="00E1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2" name="Google Shape;522;p15"/>
          <p:cNvCxnSpPr/>
          <p:nvPr/>
        </p:nvCxnSpPr>
        <p:spPr>
          <a:xfrm flipH="1" rot="10800000">
            <a:off x="1737360" y="2619756"/>
            <a:ext cx="457200" cy="96012"/>
          </a:xfrm>
          <a:prstGeom prst="straightConnector1">
            <a:avLst/>
          </a:prstGeom>
          <a:noFill/>
          <a:ln cap="flat" cmpd="sng" w="25400">
            <a:solidFill>
              <a:srgbClr val="00E1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3" name="Google Shape;523;p15"/>
          <p:cNvCxnSpPr/>
          <p:nvPr/>
        </p:nvCxnSpPr>
        <p:spPr>
          <a:xfrm flipH="1">
            <a:off x="2121408" y="2683764"/>
            <a:ext cx="128016" cy="589788"/>
          </a:xfrm>
          <a:prstGeom prst="straightConnector1">
            <a:avLst/>
          </a:prstGeom>
          <a:noFill/>
          <a:ln cap="flat" cmpd="sng" w="19050">
            <a:solidFill>
              <a:srgbClr val="00E1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24" name="Google Shape;524;p15"/>
          <p:cNvSpPr/>
          <p:nvPr/>
        </p:nvSpPr>
        <p:spPr>
          <a:xfrm>
            <a:off x="2346350" y="3511296"/>
            <a:ext cx="164592" cy="164592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2560320" y="1892807"/>
            <a:ext cx="146304" cy="146304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5"/>
          <p:cNvSpPr txBox="1"/>
          <p:nvPr/>
        </p:nvSpPr>
        <p:spPr>
          <a:xfrm>
            <a:off x="2743200" y="1874519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entrada</a:t>
            </a:r>
            <a:endParaRPr/>
          </a:p>
        </p:txBody>
      </p:sp>
      <p:sp>
        <p:nvSpPr>
          <p:cNvPr id="527" name="Google Shape;527;p15"/>
          <p:cNvSpPr txBox="1"/>
          <p:nvPr/>
        </p:nvSpPr>
        <p:spPr>
          <a:xfrm>
            <a:off x="1971446" y="369417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vecino de Q</a:t>
            </a: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3977639" y="1645920"/>
            <a:ext cx="1188720" cy="292608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 = 16 vecinos</a:t>
            </a: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3977639" y="2029968"/>
            <a:ext cx="1188720" cy="292608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ef_construction = 80</a:t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3977639" y="2414016"/>
            <a:ext cx="1188720" cy="292608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ef = 40</a:t>
            </a: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3977639" y="2798064"/>
            <a:ext cx="1188720" cy="292608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L2 · 14 dimensiones</a:t>
            </a:r>
            <a:endParaRPr/>
          </a:p>
        </p:txBody>
      </p:sp>
      <p:sp>
        <p:nvSpPr>
          <p:cNvPr id="532" name="Google Shape;532;p15"/>
          <p:cNvSpPr txBox="1"/>
          <p:nvPr/>
        </p:nvSpPr>
        <p:spPr>
          <a:xfrm>
            <a:off x="548640" y="3959352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Entra por la capa alta, avanza al vecino más cercano a Q, baja de capa y repite; en la capa 0 revisa ef = 40 candidatos.</a:t>
            </a: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5349240" y="1371600"/>
            <a:ext cx="3246120" cy="29718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5532120" y="1499616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/>
          </a:p>
        </p:txBody>
      </p:sp>
      <p:sp>
        <p:nvSpPr>
          <p:cNvPr id="535" name="Google Shape;535;p15"/>
          <p:cNvSpPr txBox="1"/>
          <p:nvPr/>
        </p:nvSpPr>
        <p:spPr>
          <a:xfrm>
            <a:off x="5532120" y="17830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89,33 %</a:t>
            </a:r>
            <a:endParaRPr/>
          </a:p>
        </p:txBody>
      </p:sp>
      <p:sp>
        <p:nvSpPr>
          <p:cNvPr id="536" name="Google Shape;536;p15"/>
          <p:cNvSpPr txBox="1"/>
          <p:nvPr/>
        </p:nvSpPr>
        <p:spPr>
          <a:xfrm>
            <a:off x="5532120" y="217627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Recall@5 frente a KNN exacto (30 consultas)</a:t>
            </a:r>
            <a:endParaRPr/>
          </a:p>
        </p:txBody>
      </p:sp>
      <p:sp>
        <p:nvSpPr>
          <p:cNvPr id="537" name="Google Shape;537;p15"/>
          <p:cNvSpPr txBox="1"/>
          <p:nvPr/>
        </p:nvSpPr>
        <p:spPr>
          <a:xfrm>
            <a:off x="5532120" y="2679191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≈ 5,7×</a:t>
            </a:r>
            <a:endParaRPr/>
          </a:p>
        </p:txBody>
      </p:sp>
      <p:sp>
        <p:nvSpPr>
          <p:cNvPr id="538" name="Google Shape;538;p15"/>
          <p:cNvSpPr txBox="1"/>
          <p:nvPr/>
        </p:nvSpPr>
        <p:spPr>
          <a:xfrm>
            <a:off x="5532120" y="307238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más rápido: 0,407 ms vs 2,335 ms por consulta</a:t>
            </a:r>
            <a:endParaRPr/>
          </a:p>
        </p:txBody>
      </p:sp>
      <p:sp>
        <p:nvSpPr>
          <p:cNvPr id="539" name="Google Shape;539;p15"/>
          <p:cNvSpPr txBox="1"/>
          <p:nvPr/>
        </p:nvSpPr>
        <p:spPr>
          <a:xfrm>
            <a:off x="5532120" y="3840480"/>
            <a:ext cx="288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20.000 productos. Vector: precio, popularidad, 8 </a:t>
            </a:r>
            <a:r>
              <a:rPr lang="es" sz="850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casillas</a:t>
            </a:r>
            <a:r>
              <a:rPr b="0" i="0" lang="es" sz="850" u="none" cap="none" strike="noStrike">
                <a:solidFill>
                  <a:srgbClr val="EEEEEE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 de categoría y 4 de marca.</a:t>
            </a: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miguel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46" name="Google Shape;546;p16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Recomendación: el grafo de sesión supera al híbrido</a:t>
            </a:r>
            <a:endParaRPr/>
          </a:p>
        </p:txBody>
      </p:sp>
      <p:sp>
        <p:nvSpPr>
          <p:cNvPr id="547" name="Google Shape;547;p16"/>
          <p:cNvSpPr txBox="1"/>
          <p:nvPr/>
        </p:nvSpPr>
        <p:spPr>
          <a:xfrm>
            <a:off x="548640" y="13716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GRAFO DE SESIÓN · SUMA LOS PESOS HACIA LO YA VISTO</a:t>
            </a:r>
            <a:endParaRPr/>
          </a:p>
        </p:txBody>
      </p:sp>
      <p:cxnSp>
        <p:nvCxnSpPr>
          <p:cNvPr id="548" name="Google Shape;548;p16"/>
          <p:cNvCxnSpPr/>
          <p:nvPr/>
        </p:nvCxnSpPr>
        <p:spPr>
          <a:xfrm flipH="1" rot="10800000">
            <a:off x="1115568" y="1783080"/>
            <a:ext cx="1335023" cy="18288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p16"/>
          <p:cNvSpPr txBox="1"/>
          <p:nvPr/>
        </p:nvSpPr>
        <p:spPr>
          <a:xfrm>
            <a:off x="1691639" y="167335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cxnSp>
        <p:nvCxnSpPr>
          <p:cNvPr id="550" name="Google Shape;550;p16"/>
          <p:cNvCxnSpPr/>
          <p:nvPr/>
        </p:nvCxnSpPr>
        <p:spPr>
          <a:xfrm>
            <a:off x="1115568" y="1965960"/>
            <a:ext cx="1335023" cy="54864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p16"/>
          <p:cNvSpPr txBox="1"/>
          <p:nvPr/>
        </p:nvSpPr>
        <p:spPr>
          <a:xfrm>
            <a:off x="1691639" y="203911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cxnSp>
        <p:nvCxnSpPr>
          <p:cNvPr id="552" name="Google Shape;552;p16"/>
          <p:cNvCxnSpPr/>
          <p:nvPr/>
        </p:nvCxnSpPr>
        <p:spPr>
          <a:xfrm flipH="1" rot="10800000">
            <a:off x="1115568" y="2514600"/>
            <a:ext cx="1335023" cy="54864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3" name="Google Shape;553;p16"/>
          <p:cNvSpPr txBox="1"/>
          <p:nvPr/>
        </p:nvSpPr>
        <p:spPr>
          <a:xfrm>
            <a:off x="1691639" y="258775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cxnSp>
        <p:nvCxnSpPr>
          <p:cNvPr id="554" name="Google Shape;554;p16"/>
          <p:cNvCxnSpPr/>
          <p:nvPr/>
        </p:nvCxnSpPr>
        <p:spPr>
          <a:xfrm>
            <a:off x="1115568" y="3063240"/>
            <a:ext cx="1335023" cy="18288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16"/>
          <p:cNvSpPr txBox="1"/>
          <p:nvPr/>
        </p:nvSpPr>
        <p:spPr>
          <a:xfrm>
            <a:off x="1691639" y="295351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556" name="Google Shape;556;p16"/>
          <p:cNvSpPr/>
          <p:nvPr/>
        </p:nvSpPr>
        <p:spPr>
          <a:xfrm>
            <a:off x="713232" y="1764792"/>
            <a:ext cx="402336" cy="402336"/>
          </a:xfrm>
          <a:prstGeom prst="ellipse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endParaRPr/>
          </a:p>
        </p:txBody>
      </p:sp>
      <p:sp>
        <p:nvSpPr>
          <p:cNvPr id="557" name="Google Shape;557;p16"/>
          <p:cNvSpPr/>
          <p:nvPr/>
        </p:nvSpPr>
        <p:spPr>
          <a:xfrm>
            <a:off x="713232" y="2862072"/>
            <a:ext cx="402336" cy="402336"/>
          </a:xfrm>
          <a:prstGeom prst="ellipse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</a:t>
            </a:r>
            <a:endParaRPr/>
          </a:p>
        </p:txBody>
      </p:sp>
      <p:sp>
        <p:nvSpPr>
          <p:cNvPr id="558" name="Google Shape;558;p16"/>
          <p:cNvSpPr/>
          <p:nvPr/>
        </p:nvSpPr>
        <p:spPr>
          <a:xfrm>
            <a:off x="2450591" y="1581912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</a:t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2450591" y="2313432"/>
            <a:ext cx="402336" cy="402336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endParaRPr/>
          </a:p>
        </p:txBody>
      </p:sp>
      <p:sp>
        <p:nvSpPr>
          <p:cNvPr id="560" name="Google Shape;560;p16"/>
          <p:cNvSpPr/>
          <p:nvPr/>
        </p:nvSpPr>
        <p:spPr>
          <a:xfrm>
            <a:off x="2450591" y="3044951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</a:t>
            </a:r>
            <a:endParaRPr/>
          </a:p>
        </p:txBody>
      </p:sp>
      <p:sp>
        <p:nvSpPr>
          <p:cNvPr id="561" name="Google Shape;561;p16"/>
          <p:cNvSpPr txBox="1"/>
          <p:nvPr/>
        </p:nvSpPr>
        <p:spPr>
          <a:xfrm>
            <a:off x="548640" y="342900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ya vistos</a:t>
            </a:r>
            <a:endParaRPr/>
          </a:p>
        </p:txBody>
      </p:sp>
      <p:sp>
        <p:nvSpPr>
          <p:cNvPr id="562" name="Google Shape;562;p16"/>
          <p:cNvSpPr txBox="1"/>
          <p:nvPr/>
        </p:nvSpPr>
        <p:spPr>
          <a:xfrm>
            <a:off x="2971800" y="1691639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 = 2</a:t>
            </a:r>
            <a:endParaRPr/>
          </a:p>
        </p:txBody>
      </p:sp>
      <p:sp>
        <p:nvSpPr>
          <p:cNvPr id="563" name="Google Shape;563;p16"/>
          <p:cNvSpPr txBox="1"/>
          <p:nvPr/>
        </p:nvSpPr>
        <p:spPr>
          <a:xfrm>
            <a:off x="2971800" y="242316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 = 3 + 1 = 4 → 1.º</a:t>
            </a:r>
            <a:endParaRPr/>
          </a:p>
        </p:txBody>
      </p:sp>
      <p:sp>
        <p:nvSpPr>
          <p:cNvPr id="564" name="Google Shape;564;p16"/>
          <p:cNvSpPr txBox="1"/>
          <p:nvPr/>
        </p:nvSpPr>
        <p:spPr>
          <a:xfrm>
            <a:off x="2971800" y="3154679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 = 1</a:t>
            </a:r>
            <a:endParaRPr/>
          </a:p>
        </p:txBody>
      </p:sp>
      <p:sp>
        <p:nvSpPr>
          <p:cNvPr id="565" name="Google Shape;565;p16"/>
          <p:cNvSpPr txBox="1"/>
          <p:nvPr/>
        </p:nvSpPr>
        <p:spPr>
          <a:xfrm>
            <a:off x="548640" y="37033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Híbrido 1+4: 1 candidato de HNSW + 4 del grafo; si faltan, se completa con populares.</a:t>
            </a:r>
            <a:endParaRPr/>
          </a:p>
        </p:txBody>
      </p:sp>
      <p:graphicFrame>
        <p:nvGraphicFramePr>
          <p:cNvPr id="566" name="Google Shape;566;p16"/>
          <p:cNvGraphicFramePr/>
          <p:nvPr/>
        </p:nvGraphicFramePr>
        <p:xfrm>
          <a:off x="4663440" y="1371600"/>
          <a:ext cx="3931920" cy="23774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67" name="Google Shape;567;p16"/>
          <p:cNvSpPr txBox="1"/>
          <p:nvPr/>
        </p:nvSpPr>
        <p:spPr>
          <a:xfrm>
            <a:off x="4663440" y="384048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grafo también fue el más rápido (5,1 ms de mediana). La mezcla 1+4 se fijó antes de mirar la prueba; validación y prueba coinciden.</a:t>
            </a:r>
            <a:endParaRPr/>
          </a:p>
        </p:txBody>
      </p:sp>
      <p:sp>
        <p:nvSpPr>
          <p:cNvPr id="568" name="Google Shape;568;p16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miguel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74" name="Google Shape;574;p17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8 · Co-compra con PageRank y Louvain</a:t>
            </a:r>
            <a:endParaRPr/>
          </a:p>
        </p:txBody>
      </p:sp>
      <p:sp>
        <p:nvSpPr>
          <p:cNvPr id="575" name="Google Shape;575;p17"/>
          <p:cNvSpPr txBox="1"/>
          <p:nvPr/>
        </p:nvSpPr>
        <p:spPr>
          <a:xfrm>
            <a:off x="548640" y="13716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CÓMO FUNCIONA</a:t>
            </a:r>
            <a:endParaRPr/>
          </a:p>
        </p:txBody>
      </p:sp>
      <p:cxnSp>
        <p:nvCxnSpPr>
          <p:cNvPr id="576" name="Google Shape;576;p17"/>
          <p:cNvCxnSpPr/>
          <p:nvPr/>
        </p:nvCxnSpPr>
        <p:spPr>
          <a:xfrm flipH="1" rot="10800000">
            <a:off x="868680" y="1691640"/>
            <a:ext cx="822960" cy="91440"/>
          </a:xfrm>
          <a:prstGeom prst="straightConnector1">
            <a:avLst/>
          </a:prstGeom>
          <a:noFill/>
          <a:ln cap="flat" cmpd="sng" w="323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17"/>
          <p:cNvCxnSpPr/>
          <p:nvPr/>
        </p:nvCxnSpPr>
        <p:spPr>
          <a:xfrm>
            <a:off x="868680" y="1783080"/>
            <a:ext cx="411480" cy="731520"/>
          </a:xfrm>
          <a:prstGeom prst="straightConnector1">
            <a:avLst/>
          </a:prstGeom>
          <a:noFill/>
          <a:ln cap="flat" cmpd="sng" w="247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17"/>
          <p:cNvCxnSpPr/>
          <p:nvPr/>
        </p:nvCxnSpPr>
        <p:spPr>
          <a:xfrm flipH="1">
            <a:off x="1280160" y="1691640"/>
            <a:ext cx="411480" cy="822960"/>
          </a:xfrm>
          <a:prstGeom prst="straightConnector1">
            <a:avLst/>
          </a:prstGeom>
          <a:noFill/>
          <a:ln cap="flat" cmpd="sng" w="4000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17"/>
          <p:cNvCxnSpPr/>
          <p:nvPr/>
        </p:nvCxnSpPr>
        <p:spPr>
          <a:xfrm>
            <a:off x="1280160" y="2514600"/>
            <a:ext cx="960120" cy="91440"/>
          </a:xfrm>
          <a:prstGeom prst="straightConnector1">
            <a:avLst/>
          </a:prstGeom>
          <a:noFill/>
          <a:ln cap="flat" cmpd="sng" w="17125">
            <a:solidFill>
              <a:srgbClr val="00E1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17"/>
          <p:cNvCxnSpPr/>
          <p:nvPr/>
        </p:nvCxnSpPr>
        <p:spPr>
          <a:xfrm flipH="1" rot="10800000">
            <a:off x="2240280" y="1965960"/>
            <a:ext cx="685800" cy="640080"/>
          </a:xfrm>
          <a:prstGeom prst="straightConnector1">
            <a:avLst/>
          </a:prstGeom>
          <a:noFill/>
          <a:ln cap="flat" cmpd="sng" w="247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17"/>
          <p:cNvCxnSpPr/>
          <p:nvPr/>
        </p:nvCxnSpPr>
        <p:spPr>
          <a:xfrm>
            <a:off x="2240280" y="2606040"/>
            <a:ext cx="822960" cy="502920"/>
          </a:xfrm>
          <a:prstGeom prst="straightConnector1">
            <a:avLst/>
          </a:prstGeom>
          <a:noFill/>
          <a:ln cap="flat" cmpd="sng" w="3237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17"/>
          <p:cNvCxnSpPr/>
          <p:nvPr/>
        </p:nvCxnSpPr>
        <p:spPr>
          <a:xfrm>
            <a:off x="2926080" y="1965960"/>
            <a:ext cx="137160" cy="1143000"/>
          </a:xfrm>
          <a:prstGeom prst="straightConnector1">
            <a:avLst/>
          </a:prstGeom>
          <a:noFill/>
          <a:ln cap="flat" cmpd="sng" w="247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17"/>
          <p:cNvCxnSpPr/>
          <p:nvPr/>
        </p:nvCxnSpPr>
        <p:spPr>
          <a:xfrm flipH="1">
            <a:off x="2148840" y="2606040"/>
            <a:ext cx="91440" cy="731520"/>
          </a:xfrm>
          <a:prstGeom prst="straightConnector1">
            <a:avLst/>
          </a:prstGeom>
          <a:noFill/>
          <a:ln cap="flat" cmpd="sng" w="247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17"/>
          <p:cNvCxnSpPr/>
          <p:nvPr/>
        </p:nvCxnSpPr>
        <p:spPr>
          <a:xfrm flipH="1">
            <a:off x="2148840" y="3108960"/>
            <a:ext cx="914400" cy="228600"/>
          </a:xfrm>
          <a:prstGeom prst="straightConnector1">
            <a:avLst/>
          </a:prstGeom>
          <a:noFill/>
          <a:ln cap="flat" cmpd="sng" w="171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17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586" name="Google Shape;586;p17"/>
          <p:cNvSpPr/>
          <p:nvPr/>
        </p:nvSpPr>
        <p:spPr>
          <a:xfrm>
            <a:off x="1508760" y="1508760"/>
            <a:ext cx="365760" cy="36576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1097280" y="2331720"/>
            <a:ext cx="365760" cy="36576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588" name="Google Shape;588;p17"/>
          <p:cNvSpPr/>
          <p:nvPr/>
        </p:nvSpPr>
        <p:spPr>
          <a:xfrm>
            <a:off x="2057400" y="24231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/>
          </a:p>
        </p:txBody>
      </p:sp>
      <p:sp>
        <p:nvSpPr>
          <p:cNvPr id="589" name="Google Shape;589;p17"/>
          <p:cNvSpPr/>
          <p:nvPr/>
        </p:nvSpPr>
        <p:spPr>
          <a:xfrm>
            <a:off x="2743200" y="17830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/>
          </a:p>
        </p:txBody>
      </p:sp>
      <p:sp>
        <p:nvSpPr>
          <p:cNvPr id="590" name="Google Shape;590;p17"/>
          <p:cNvSpPr/>
          <p:nvPr/>
        </p:nvSpPr>
        <p:spPr>
          <a:xfrm>
            <a:off x="2880360" y="2926079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6</a:t>
            </a:r>
            <a:endParaRPr/>
          </a:p>
        </p:txBody>
      </p:sp>
      <p:sp>
        <p:nvSpPr>
          <p:cNvPr id="591" name="Google Shape;591;p17"/>
          <p:cNvSpPr/>
          <p:nvPr/>
        </p:nvSpPr>
        <p:spPr>
          <a:xfrm>
            <a:off x="1965960" y="3154679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7</a:t>
            </a:r>
            <a:endParaRPr/>
          </a:p>
        </p:txBody>
      </p:sp>
      <p:sp>
        <p:nvSpPr>
          <p:cNvPr id="592" name="Google Shape;592;p17"/>
          <p:cNvSpPr txBox="1"/>
          <p:nvPr/>
        </p:nvSpPr>
        <p:spPr>
          <a:xfrm>
            <a:off x="548640" y="3611880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grosor = veces compradas juntas · color = comunidad</a:t>
            </a:r>
            <a:endParaRPr/>
          </a:p>
        </p:txBody>
      </p:sp>
      <p:sp>
        <p:nvSpPr>
          <p:cNvPr id="593" name="Google Shape;593;p17"/>
          <p:cNvSpPr txBox="1"/>
          <p:nvPr/>
        </p:nvSpPr>
        <p:spPr>
          <a:xfrm>
            <a:off x="3429000" y="1463040"/>
            <a:ext cx="1783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Arista: </a:t>
            </a:r>
            <a:r>
              <a:rPr b="0" i="0" lang="es" sz="9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productos comprados en la misma sesión.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PageRank: </a:t>
            </a:r>
            <a:r>
              <a:rPr b="0" i="0" lang="es" sz="9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reparte importancia por las aristas</a:t>
            </a:r>
            <a:r>
              <a:rPr lang="es" sz="900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.</a:t>
            </a:r>
            <a:endParaRPr sz="900">
              <a:solidFill>
                <a:srgbClr val="FFFFFF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0E1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Louvain: </a:t>
            </a:r>
            <a:r>
              <a:rPr b="0" i="0" lang="es" sz="9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mueve nodos a la comunidad que más sube Q y agrupa.</a:t>
            </a:r>
            <a:endParaRPr/>
          </a:p>
        </p:txBody>
      </p:sp>
      <p:sp>
        <p:nvSpPr>
          <p:cNvPr id="594" name="Google Shape;594;p17"/>
          <p:cNvSpPr txBox="1"/>
          <p:nvPr/>
        </p:nvSpPr>
        <p:spPr>
          <a:xfrm>
            <a:off x="548640" y="393192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19.180 nodos · 14.041 aristas · 13.303 comunidades · Q = 0,632</a:t>
            </a:r>
            <a:endParaRPr/>
          </a:p>
        </p:txBody>
      </p:sp>
      <p:sp>
        <p:nvSpPr>
          <p:cNvPr id="595" name="Google Shape;595;p17"/>
          <p:cNvSpPr/>
          <p:nvPr/>
        </p:nvSpPr>
        <p:spPr>
          <a:xfrm>
            <a:off x="5349240" y="1371600"/>
            <a:ext cx="3246120" cy="2971800"/>
          </a:xfrm>
          <a:prstGeom prst="roundRect">
            <a:avLst>
              <a:gd fmla="val 12000" name="adj"/>
            </a:avLst>
          </a:prstGeom>
          <a:solidFill>
            <a:srgbClr val="5E5C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7"/>
          <p:cNvSpPr txBox="1"/>
          <p:nvPr/>
        </p:nvSpPr>
        <p:spPr>
          <a:xfrm>
            <a:off x="5532120" y="1595043"/>
            <a:ext cx="292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 · SUBGRAFO 2.500 NODOS, 3 SEMILLAS</a:t>
            </a:r>
            <a:endParaRPr/>
          </a:p>
        </p:txBody>
      </p:sp>
      <p:sp>
        <p:nvSpPr>
          <p:cNvPr id="597" name="Google Shape;597;p17"/>
          <p:cNvSpPr txBox="1"/>
          <p:nvPr/>
        </p:nvSpPr>
        <p:spPr>
          <a:xfrm>
            <a:off x="5522577" y="1952855"/>
            <a:ext cx="13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7"/>
          <p:cNvSpPr txBox="1"/>
          <p:nvPr/>
        </p:nvSpPr>
        <p:spPr>
          <a:xfrm>
            <a:off x="6894177" y="1952855"/>
            <a:ext cx="731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Louvain</a:t>
            </a:r>
            <a:endParaRPr/>
          </a:p>
        </p:txBody>
      </p:sp>
      <p:sp>
        <p:nvSpPr>
          <p:cNvPr id="599" name="Google Shape;599;p17"/>
          <p:cNvSpPr txBox="1"/>
          <p:nvPr/>
        </p:nvSpPr>
        <p:spPr>
          <a:xfrm>
            <a:off x="7671417" y="1952855"/>
            <a:ext cx="731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A1A0A0"/>
                </a:solidFill>
                <a:latin typeface="Space Grotesk"/>
                <a:ea typeface="Space Grotesk"/>
                <a:cs typeface="Space Grotesk"/>
                <a:sym typeface="Space Grotesk"/>
              </a:rPr>
              <a:t>LPA</a:t>
            </a:r>
            <a:endParaRPr/>
          </a:p>
        </p:txBody>
      </p:sp>
      <p:sp>
        <p:nvSpPr>
          <p:cNvPr id="600" name="Google Shape;600;p17"/>
          <p:cNvSpPr txBox="1"/>
          <p:nvPr/>
        </p:nvSpPr>
        <p:spPr>
          <a:xfrm>
            <a:off x="5522577" y="2254607"/>
            <a:ext cx="1371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Modularidad Q</a:t>
            </a:r>
            <a:endParaRPr/>
          </a:p>
        </p:txBody>
      </p:sp>
      <p:sp>
        <p:nvSpPr>
          <p:cNvPr id="601" name="Google Shape;601;p17"/>
          <p:cNvSpPr txBox="1"/>
          <p:nvPr/>
        </p:nvSpPr>
        <p:spPr>
          <a:xfrm>
            <a:off x="6894177" y="2254607"/>
            <a:ext cx="731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0,547</a:t>
            </a:r>
            <a:endParaRPr/>
          </a:p>
        </p:txBody>
      </p:sp>
      <p:sp>
        <p:nvSpPr>
          <p:cNvPr id="602" name="Google Shape;602;p17"/>
          <p:cNvSpPr txBox="1"/>
          <p:nvPr/>
        </p:nvSpPr>
        <p:spPr>
          <a:xfrm>
            <a:off x="7671417" y="2254607"/>
            <a:ext cx="731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0,224</a:t>
            </a:r>
            <a:endParaRPr/>
          </a:p>
        </p:txBody>
      </p:sp>
      <p:sp>
        <p:nvSpPr>
          <p:cNvPr id="603" name="Google Shape;603;p17"/>
          <p:cNvSpPr txBox="1"/>
          <p:nvPr/>
        </p:nvSpPr>
        <p:spPr>
          <a:xfrm>
            <a:off x="5522577" y="2556359"/>
            <a:ext cx="1371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Tiempo</a:t>
            </a:r>
            <a:endParaRPr/>
          </a:p>
        </p:txBody>
      </p:sp>
      <p:sp>
        <p:nvSpPr>
          <p:cNvPr id="604" name="Google Shape;604;p17"/>
          <p:cNvSpPr txBox="1"/>
          <p:nvPr/>
        </p:nvSpPr>
        <p:spPr>
          <a:xfrm>
            <a:off x="6894177" y="2556359"/>
            <a:ext cx="731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304 ms</a:t>
            </a:r>
            <a:endParaRPr/>
          </a:p>
        </p:txBody>
      </p:sp>
      <p:sp>
        <p:nvSpPr>
          <p:cNvPr id="605" name="Google Shape;605;p17"/>
          <p:cNvSpPr txBox="1"/>
          <p:nvPr/>
        </p:nvSpPr>
        <p:spPr>
          <a:xfrm>
            <a:off x="7671417" y="2556359"/>
            <a:ext cx="731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431 ms</a:t>
            </a:r>
            <a:endParaRPr/>
          </a:p>
        </p:txBody>
      </p:sp>
      <p:sp>
        <p:nvSpPr>
          <p:cNvPr id="606" name="Google Shape;606;p17"/>
          <p:cNvSpPr txBox="1"/>
          <p:nvPr/>
        </p:nvSpPr>
        <p:spPr>
          <a:xfrm>
            <a:off x="5522577" y="2858111"/>
            <a:ext cx="1371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Estabilidad ARI</a:t>
            </a:r>
            <a:endParaRPr/>
          </a:p>
        </p:txBody>
      </p:sp>
      <p:sp>
        <p:nvSpPr>
          <p:cNvPr id="607" name="Google Shape;607;p17"/>
          <p:cNvSpPr txBox="1"/>
          <p:nvPr/>
        </p:nvSpPr>
        <p:spPr>
          <a:xfrm>
            <a:off x="6894177" y="2858111"/>
            <a:ext cx="731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0,743</a:t>
            </a:r>
            <a:endParaRPr/>
          </a:p>
        </p:txBody>
      </p:sp>
      <p:sp>
        <p:nvSpPr>
          <p:cNvPr id="608" name="Google Shape;608;p17"/>
          <p:cNvSpPr txBox="1"/>
          <p:nvPr/>
        </p:nvSpPr>
        <p:spPr>
          <a:xfrm>
            <a:off x="7671417" y="2858111"/>
            <a:ext cx="731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0,862</a:t>
            </a:r>
            <a:endParaRPr/>
          </a:p>
        </p:txBody>
      </p:sp>
      <p:sp>
        <p:nvSpPr>
          <p:cNvPr id="609" name="Google Shape;609;p17"/>
          <p:cNvSpPr txBox="1"/>
          <p:nvPr/>
        </p:nvSpPr>
        <p:spPr>
          <a:xfrm>
            <a:off x="5522577" y="3159863"/>
            <a:ext cx="1371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Comunidades</a:t>
            </a:r>
            <a:endParaRPr/>
          </a:p>
        </p:txBody>
      </p:sp>
      <p:sp>
        <p:nvSpPr>
          <p:cNvPr id="610" name="Google Shape;610;p17"/>
          <p:cNvSpPr txBox="1"/>
          <p:nvPr/>
        </p:nvSpPr>
        <p:spPr>
          <a:xfrm>
            <a:off x="6894177" y="3159863"/>
            <a:ext cx="731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≈ 129</a:t>
            </a:r>
            <a:endParaRPr/>
          </a:p>
        </p:txBody>
      </p:sp>
      <p:sp>
        <p:nvSpPr>
          <p:cNvPr id="611" name="Google Shape;611;p17"/>
          <p:cNvSpPr txBox="1"/>
          <p:nvPr/>
        </p:nvSpPr>
        <p:spPr>
          <a:xfrm>
            <a:off x="7671417" y="3159863"/>
            <a:ext cx="731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≈ 288</a:t>
            </a:r>
            <a:endParaRPr/>
          </a:p>
        </p:txBody>
      </p:sp>
      <p:cxnSp>
        <p:nvCxnSpPr>
          <p:cNvPr id="612" name="Google Shape;612;p17"/>
          <p:cNvCxnSpPr/>
          <p:nvPr/>
        </p:nvCxnSpPr>
        <p:spPr>
          <a:xfrm>
            <a:off x="5522577" y="2208886"/>
            <a:ext cx="2880300" cy="0"/>
          </a:xfrm>
          <a:prstGeom prst="straightConnector1">
            <a:avLst/>
          </a:prstGeom>
          <a:noFill/>
          <a:ln cap="flat" cmpd="sng" w="9525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p17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19" name="Google Shape;619;p18"/>
          <p:cNvSpPr txBox="1"/>
          <p:nvPr/>
        </p:nvSpPr>
        <p:spPr>
          <a:xfrm>
            <a:off x="548640" y="841248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9 · </a:t>
            </a: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Trie, </a:t>
            </a: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Top-K y dashboard: la salida visible</a:t>
            </a:r>
            <a:endParaRPr/>
          </a:p>
        </p:txBody>
      </p:sp>
      <p:sp>
        <p:nvSpPr>
          <p:cNvPr id="620" name="Google Shape;620;p18"/>
          <p:cNvSpPr txBox="1"/>
          <p:nvPr/>
        </p:nvSpPr>
        <p:spPr>
          <a:xfrm>
            <a:off x="548640" y="1371600"/>
            <a:ext cx="4572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TRIE · </a:t>
            </a:r>
            <a:r>
              <a:rPr b="1" lang="es" sz="850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Búsqueda por prefijos </a:t>
            </a:r>
            <a:endParaRPr b="1" sz="850">
              <a:solidFill>
                <a:srgbClr val="888888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50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Ejemplo </a:t>
            </a:r>
            <a:r>
              <a:rPr b="1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 «SA»</a:t>
            </a:r>
            <a:endParaRPr/>
          </a:p>
        </p:txBody>
      </p:sp>
      <p:cxnSp>
        <p:nvCxnSpPr>
          <p:cNvPr id="621" name="Google Shape;621;p18"/>
          <p:cNvCxnSpPr/>
          <p:nvPr/>
        </p:nvCxnSpPr>
        <p:spPr>
          <a:xfrm flipH="1" rot="10800000">
            <a:off x="932688" y="2807087"/>
            <a:ext cx="375000" cy="502800"/>
          </a:xfrm>
          <a:prstGeom prst="straightConnector1">
            <a:avLst/>
          </a:prstGeom>
          <a:noFill/>
          <a:ln cap="flat" cmpd="sng" w="25400">
            <a:solidFill>
              <a:srgbClr val="4D4B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18"/>
          <p:cNvCxnSpPr/>
          <p:nvPr/>
        </p:nvCxnSpPr>
        <p:spPr>
          <a:xfrm>
            <a:off x="932688" y="3309887"/>
            <a:ext cx="375000" cy="594300"/>
          </a:xfrm>
          <a:prstGeom prst="straightConnector1">
            <a:avLst/>
          </a:prstGeom>
          <a:noFill/>
          <a:ln cap="flat" cmpd="sng" w="1270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18"/>
          <p:cNvCxnSpPr/>
          <p:nvPr/>
        </p:nvCxnSpPr>
        <p:spPr>
          <a:xfrm flipH="1" rot="10800000">
            <a:off x="1618488" y="2486867"/>
            <a:ext cx="375000" cy="320100"/>
          </a:xfrm>
          <a:prstGeom prst="straightConnector1">
            <a:avLst/>
          </a:prstGeom>
          <a:noFill/>
          <a:ln cap="flat" cmpd="sng" w="25400">
            <a:solidFill>
              <a:srgbClr val="4D4B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18"/>
          <p:cNvCxnSpPr/>
          <p:nvPr/>
        </p:nvCxnSpPr>
        <p:spPr>
          <a:xfrm>
            <a:off x="1618488" y="2806967"/>
            <a:ext cx="375000" cy="365700"/>
          </a:xfrm>
          <a:prstGeom prst="straightConnector1">
            <a:avLst/>
          </a:prstGeom>
          <a:noFill/>
          <a:ln cap="flat" cmpd="sng" w="1270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18"/>
          <p:cNvCxnSpPr/>
          <p:nvPr/>
        </p:nvCxnSpPr>
        <p:spPr>
          <a:xfrm>
            <a:off x="1618488" y="3904247"/>
            <a:ext cx="375000" cy="0"/>
          </a:xfrm>
          <a:prstGeom prst="straightConnector1">
            <a:avLst/>
          </a:prstGeom>
          <a:noFill/>
          <a:ln cap="flat" cmpd="sng" w="1270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18"/>
          <p:cNvCxnSpPr/>
          <p:nvPr/>
        </p:nvCxnSpPr>
        <p:spPr>
          <a:xfrm>
            <a:off x="2304288" y="2486927"/>
            <a:ext cx="375000" cy="0"/>
          </a:xfrm>
          <a:prstGeom prst="straightConnector1">
            <a:avLst/>
          </a:prstGeom>
          <a:noFill/>
          <a:ln cap="flat" cmpd="sng" w="25400">
            <a:solidFill>
              <a:srgbClr val="4D4B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18"/>
          <p:cNvCxnSpPr/>
          <p:nvPr/>
        </p:nvCxnSpPr>
        <p:spPr>
          <a:xfrm>
            <a:off x="2304288" y="3172727"/>
            <a:ext cx="375000" cy="0"/>
          </a:xfrm>
          <a:prstGeom prst="straightConnector1">
            <a:avLst/>
          </a:prstGeom>
          <a:noFill/>
          <a:ln cap="flat" cmpd="sng" w="1270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18"/>
          <p:cNvCxnSpPr/>
          <p:nvPr/>
        </p:nvCxnSpPr>
        <p:spPr>
          <a:xfrm>
            <a:off x="2304288" y="3904247"/>
            <a:ext cx="375000" cy="0"/>
          </a:xfrm>
          <a:prstGeom prst="straightConnector1">
            <a:avLst/>
          </a:prstGeom>
          <a:noFill/>
          <a:ln cap="flat" cmpd="sng" w="1270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18"/>
          <p:cNvSpPr/>
          <p:nvPr/>
        </p:nvSpPr>
        <p:spPr>
          <a:xfrm>
            <a:off x="621792" y="3154439"/>
            <a:ext cx="310800" cy="310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·</a:t>
            </a:r>
            <a:endParaRPr/>
          </a:p>
        </p:txBody>
      </p:sp>
      <p:sp>
        <p:nvSpPr>
          <p:cNvPr id="630" name="Google Shape;630;p18"/>
          <p:cNvSpPr/>
          <p:nvPr/>
        </p:nvSpPr>
        <p:spPr>
          <a:xfrm>
            <a:off x="1307592" y="2651519"/>
            <a:ext cx="310800" cy="31080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</a:t>
            </a:r>
            <a:endParaRPr/>
          </a:p>
        </p:txBody>
      </p:sp>
      <p:sp>
        <p:nvSpPr>
          <p:cNvPr id="631" name="Google Shape;631;p18"/>
          <p:cNvSpPr/>
          <p:nvPr/>
        </p:nvSpPr>
        <p:spPr>
          <a:xfrm>
            <a:off x="1307592" y="3748799"/>
            <a:ext cx="310800" cy="310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endParaRPr/>
          </a:p>
        </p:txBody>
      </p:sp>
      <p:sp>
        <p:nvSpPr>
          <p:cNvPr id="632" name="Google Shape;632;p18"/>
          <p:cNvSpPr/>
          <p:nvPr/>
        </p:nvSpPr>
        <p:spPr>
          <a:xfrm>
            <a:off x="1993392" y="2331479"/>
            <a:ext cx="310800" cy="31080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endParaRPr/>
          </a:p>
        </p:txBody>
      </p:sp>
      <p:sp>
        <p:nvSpPr>
          <p:cNvPr id="633" name="Google Shape;633;p18"/>
          <p:cNvSpPr/>
          <p:nvPr/>
        </p:nvSpPr>
        <p:spPr>
          <a:xfrm>
            <a:off x="1993392" y="3017279"/>
            <a:ext cx="310800" cy="310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o</a:t>
            </a:r>
            <a:endParaRPr/>
          </a:p>
        </p:txBody>
      </p:sp>
      <p:sp>
        <p:nvSpPr>
          <p:cNvPr id="634" name="Google Shape;634;p18"/>
          <p:cNvSpPr/>
          <p:nvPr/>
        </p:nvSpPr>
        <p:spPr>
          <a:xfrm>
            <a:off x="1993392" y="3748799"/>
            <a:ext cx="310800" cy="310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endParaRPr/>
          </a:p>
        </p:txBody>
      </p:sp>
      <p:sp>
        <p:nvSpPr>
          <p:cNvPr id="635" name="Google Shape;635;p18"/>
          <p:cNvSpPr/>
          <p:nvPr/>
        </p:nvSpPr>
        <p:spPr>
          <a:xfrm>
            <a:off x="2679192" y="2331479"/>
            <a:ext cx="310800" cy="310800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m</a:t>
            </a:r>
            <a:endParaRPr/>
          </a:p>
        </p:txBody>
      </p:sp>
      <p:sp>
        <p:nvSpPr>
          <p:cNvPr id="636" name="Google Shape;636;p18"/>
          <p:cNvSpPr/>
          <p:nvPr/>
        </p:nvSpPr>
        <p:spPr>
          <a:xfrm>
            <a:off x="2679192" y="3017279"/>
            <a:ext cx="310800" cy="310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n</a:t>
            </a:r>
            <a:endParaRPr/>
          </a:p>
        </p:txBody>
      </p:sp>
      <p:sp>
        <p:nvSpPr>
          <p:cNvPr id="637" name="Google Shape;637;p18"/>
          <p:cNvSpPr/>
          <p:nvPr/>
        </p:nvSpPr>
        <p:spPr>
          <a:xfrm>
            <a:off x="2679192" y="3748799"/>
            <a:ext cx="310800" cy="310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1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endParaRPr/>
          </a:p>
        </p:txBody>
      </p:sp>
      <p:sp>
        <p:nvSpPr>
          <p:cNvPr id="638" name="Google Shape;638;p18"/>
          <p:cNvSpPr txBox="1"/>
          <p:nvPr/>
        </p:nvSpPr>
        <p:spPr>
          <a:xfrm>
            <a:off x="3063240" y="2395486"/>
            <a:ext cx="1280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samsung …</a:t>
            </a:r>
            <a:endParaRPr/>
          </a:p>
        </p:txBody>
      </p:sp>
      <p:sp>
        <p:nvSpPr>
          <p:cNvPr id="639" name="Google Shape;639;p18"/>
          <p:cNvSpPr txBox="1"/>
          <p:nvPr/>
        </p:nvSpPr>
        <p:spPr>
          <a:xfrm>
            <a:off x="3063240" y="3081287"/>
            <a:ext cx="1280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sony …</a:t>
            </a:r>
            <a:endParaRPr/>
          </a:p>
        </p:txBody>
      </p:sp>
      <p:sp>
        <p:nvSpPr>
          <p:cNvPr id="640" name="Google Shape;640;p18"/>
          <p:cNvSpPr txBox="1"/>
          <p:nvPr/>
        </p:nvSpPr>
        <p:spPr>
          <a:xfrm>
            <a:off x="3063240" y="3812807"/>
            <a:ext cx="1280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apple …</a:t>
            </a:r>
            <a:endParaRPr/>
          </a:p>
        </p:txBody>
      </p:sp>
      <p:sp>
        <p:nvSpPr>
          <p:cNvPr id="641" name="Google Shape;641;p18"/>
          <p:cNvSpPr/>
          <p:nvPr/>
        </p:nvSpPr>
        <p:spPr>
          <a:xfrm>
            <a:off x="4846325" y="1371600"/>
            <a:ext cx="3749100" cy="33828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8"/>
          <p:cNvSpPr txBox="1"/>
          <p:nvPr/>
        </p:nvSpPr>
        <p:spPr>
          <a:xfrm>
            <a:off x="5029200" y="149961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TOP-K Y DASHBOARD</a:t>
            </a:r>
            <a:endParaRPr/>
          </a:p>
        </p:txBody>
      </p:sp>
      <p:sp>
        <p:nvSpPr>
          <p:cNvPr id="643" name="Google Shape;643;p18"/>
          <p:cNvSpPr txBox="1"/>
          <p:nvPr/>
        </p:nvSpPr>
        <p:spPr>
          <a:xfrm>
            <a:off x="5029200" y="1755648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Top-K: </a:t>
            </a:r>
            <a:r>
              <a:rPr b="0" i="0" lang="es" sz="10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ordena los candidatos por puntaje y entrega los 5 mejores.</a:t>
            </a:r>
            <a:endParaRPr/>
          </a:p>
        </p:txBody>
      </p:sp>
      <p:pic>
        <p:nvPicPr>
          <p:cNvPr descr="image75.png" id="644" name="Google Shape;6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821405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8"/>
          <p:cNvSpPr txBox="1"/>
          <p:nvPr/>
        </p:nvSpPr>
        <p:spPr>
          <a:xfrm>
            <a:off x="5486400" y="2821405"/>
            <a:ext cx="1234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Buscar</a:t>
            </a:r>
            <a:endParaRPr/>
          </a:p>
        </p:txBody>
      </p:sp>
      <p:sp>
        <p:nvSpPr>
          <p:cNvPr id="646" name="Google Shape;646;p18"/>
          <p:cNvSpPr txBox="1"/>
          <p:nvPr/>
        </p:nvSpPr>
        <p:spPr>
          <a:xfrm>
            <a:off x="5486400" y="3022573"/>
            <a:ext cx="123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 + LRU y Trie</a:t>
            </a:r>
            <a:endParaRPr/>
          </a:p>
        </p:txBody>
      </p:sp>
      <p:pic>
        <p:nvPicPr>
          <p:cNvPr descr="image66.png" id="647" name="Google Shape;6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0" y="2821405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18"/>
          <p:cNvSpPr txBox="1"/>
          <p:nvPr/>
        </p:nvSpPr>
        <p:spPr>
          <a:xfrm>
            <a:off x="7223760" y="2821405"/>
            <a:ext cx="1234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Precios</a:t>
            </a:r>
            <a:endParaRPr/>
          </a:p>
        </p:txBody>
      </p:sp>
      <p:sp>
        <p:nvSpPr>
          <p:cNvPr id="649" name="Google Shape;649;p18"/>
          <p:cNvSpPr txBox="1"/>
          <p:nvPr/>
        </p:nvSpPr>
        <p:spPr>
          <a:xfrm>
            <a:off x="7223760" y="3022573"/>
            <a:ext cx="123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rango con B+Tree</a:t>
            </a:r>
            <a:endParaRPr/>
          </a:p>
        </p:txBody>
      </p:sp>
      <p:pic>
        <p:nvPicPr>
          <p:cNvPr descr="image74.png" id="650" name="Google Shape;6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3461485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/>
          <p:nvPr/>
        </p:nvSpPr>
        <p:spPr>
          <a:xfrm>
            <a:off x="5486400" y="3461485"/>
            <a:ext cx="1234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Recomendar</a:t>
            </a:r>
            <a:endParaRPr/>
          </a:p>
        </p:txBody>
      </p:sp>
      <p:sp>
        <p:nvSpPr>
          <p:cNvPr id="652" name="Google Shape;652;p18"/>
          <p:cNvSpPr txBox="1"/>
          <p:nvPr/>
        </p:nvSpPr>
        <p:spPr>
          <a:xfrm>
            <a:off x="5486400" y="3662653"/>
            <a:ext cx="123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híbrido 1+4</a:t>
            </a:r>
            <a:endParaRPr/>
          </a:p>
        </p:txBody>
      </p:sp>
      <p:pic>
        <p:nvPicPr>
          <p:cNvPr descr="image54.png" id="653" name="Google Shape;6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0" y="3461485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18"/>
          <p:cNvSpPr txBox="1"/>
          <p:nvPr/>
        </p:nvSpPr>
        <p:spPr>
          <a:xfrm>
            <a:off x="7223760" y="3461485"/>
            <a:ext cx="1234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Simular evento</a:t>
            </a:r>
            <a:endParaRPr/>
          </a:p>
        </p:txBody>
      </p:sp>
      <p:sp>
        <p:nvSpPr>
          <p:cNvPr id="655" name="Google Shape;655;p18"/>
          <p:cNvSpPr txBox="1"/>
          <p:nvPr/>
        </p:nvSpPr>
        <p:spPr>
          <a:xfrm>
            <a:off x="7223760" y="3662653"/>
            <a:ext cx="123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recorre las ramas</a:t>
            </a:r>
            <a:endParaRPr/>
          </a:p>
        </p:txBody>
      </p:sp>
      <p:pic>
        <p:nvPicPr>
          <p:cNvPr descr="image57.png" id="656" name="Google Shape;6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0" y="4101565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8"/>
          <p:cNvSpPr txBox="1"/>
          <p:nvPr/>
        </p:nvSpPr>
        <p:spPr>
          <a:xfrm>
            <a:off x="5486400" y="4101565"/>
            <a:ext cx="1234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Panel y alertas</a:t>
            </a:r>
            <a:endParaRPr/>
          </a:p>
        </p:txBody>
      </p:sp>
      <p:sp>
        <p:nvSpPr>
          <p:cNvPr id="658" name="Google Shape;658;p18"/>
          <p:cNvSpPr txBox="1"/>
          <p:nvPr/>
        </p:nvSpPr>
        <p:spPr>
          <a:xfrm>
            <a:off x="5486400" y="4302733"/>
            <a:ext cx="123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ventas, alertas, bloqueos</a:t>
            </a:r>
            <a:endParaRPr/>
          </a:p>
        </p:txBody>
      </p:sp>
      <p:pic>
        <p:nvPicPr>
          <p:cNvPr descr="image76.png" id="659" name="Google Shape;6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6560" y="4101565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8"/>
          <p:cNvSpPr txBox="1"/>
          <p:nvPr/>
        </p:nvSpPr>
        <p:spPr>
          <a:xfrm>
            <a:off x="7223760" y="4101565"/>
            <a:ext cx="1234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Grafo</a:t>
            </a:r>
            <a:endParaRPr/>
          </a:p>
        </p:txBody>
      </p:sp>
      <p:sp>
        <p:nvSpPr>
          <p:cNvPr id="661" name="Google Shape;661;p18"/>
          <p:cNvSpPr txBox="1"/>
          <p:nvPr/>
        </p:nvSpPr>
        <p:spPr>
          <a:xfrm>
            <a:off x="7223760" y="4302733"/>
            <a:ext cx="123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PageRank y comunidades</a:t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grace</a:t>
            </a:r>
            <a:endParaRPr/>
          </a:p>
        </p:txBody>
      </p:sp>
      <p:sp>
        <p:nvSpPr>
          <p:cNvPr id="663" name="Google Shape;663;p18"/>
          <p:cNvSpPr txBox="1"/>
          <p:nvPr/>
        </p:nvSpPr>
        <p:spPr>
          <a:xfrm>
            <a:off x="462023" y="1619731"/>
            <a:ext cx="3000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95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usuario escribe las primeras letras de un producto o marca y el sistema explora las posibles sugerencias.</a:t>
            </a:r>
            <a:endParaRPr/>
          </a:p>
        </p:txBody>
      </p:sp>
      <p:sp>
        <p:nvSpPr>
          <p:cNvPr id="664" name="Google Shape;664;p18"/>
          <p:cNvSpPr txBox="1"/>
          <p:nvPr/>
        </p:nvSpPr>
        <p:spPr>
          <a:xfrm>
            <a:off x="4964225" y="2047875"/>
            <a:ext cx="363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Dashboard:</a:t>
            </a:r>
            <a:r>
              <a:rPr lang="es" sz="1000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 permite consultar y visualizar las salidas de las distintas etapas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670" name="Google Shape;670;p19"/>
          <p:cNvGrpSpPr/>
          <p:nvPr/>
        </p:nvGrpSpPr>
        <p:grpSpPr>
          <a:xfrm>
            <a:off x="4390879" y="1470801"/>
            <a:ext cx="2480144" cy="1728853"/>
            <a:chOff x="4526679" y="1857800"/>
            <a:chExt cx="2480144" cy="1728853"/>
          </a:xfrm>
        </p:grpSpPr>
        <p:sp>
          <p:nvSpPr>
            <p:cNvPr id="671" name="Google Shape;671;p19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A1A0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2" name="Google Shape;672;p19"/>
            <p:cNvGrpSpPr/>
            <p:nvPr/>
          </p:nvGrpSpPr>
          <p:grpSpPr>
            <a:xfrm>
              <a:off x="4526679" y="1857800"/>
              <a:ext cx="2480144" cy="1728853"/>
              <a:chOff x="4526679" y="1857800"/>
              <a:chExt cx="2480144" cy="1728853"/>
            </a:xfrm>
          </p:grpSpPr>
          <p:grpSp>
            <p:nvGrpSpPr>
              <p:cNvPr id="673" name="Google Shape;673;p19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674" name="Google Shape;674;p19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675" name="Google Shape;675;p19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6" name="Google Shape;676;p19"/>
              <p:cNvSpPr txBox="1"/>
              <p:nvPr/>
            </p:nvSpPr>
            <p:spPr>
              <a:xfrm>
                <a:off x="4526679" y="3215253"/>
                <a:ext cx="6927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s" sz="120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PASO 3</a:t>
                </a:r>
                <a:endParaRPr b="1" i="0" sz="12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677" name="Google Shape;677;p19"/>
              <p:cNvSpPr txBox="1"/>
              <p:nvPr/>
            </p:nvSpPr>
            <p:spPr>
              <a:xfrm>
                <a:off x="4753223" y="185780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1" i="0" lang="es" sz="150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Compra sospechosa</a:t>
                </a:r>
                <a:endParaRPr b="1" i="0" sz="15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Dispositivo señalado:</a:t>
                </a:r>
                <a:endParaRPr b="1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Bloom + Count-Min + exacto</a:t>
                </a:r>
                <a:endParaRPr b="0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deciden revisar o bloquear.</a:t>
                </a:r>
                <a:endParaRPr b="0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678" name="Google Shape;678;p19"/>
          <p:cNvGrpSpPr/>
          <p:nvPr/>
        </p:nvGrpSpPr>
        <p:grpSpPr>
          <a:xfrm>
            <a:off x="6300010" y="2315597"/>
            <a:ext cx="2952440" cy="1735654"/>
            <a:chOff x="6435810" y="2702596"/>
            <a:chExt cx="2952440" cy="1735654"/>
          </a:xfrm>
        </p:grpSpPr>
        <p:sp>
          <p:nvSpPr>
            <p:cNvPr id="679" name="Google Shape;679;p19"/>
            <p:cNvSpPr/>
            <p:nvPr/>
          </p:nvSpPr>
          <p:spPr>
            <a:xfrm>
              <a:off x="6807650" y="3079474"/>
              <a:ext cx="2580600" cy="133500"/>
            </a:xfrm>
            <a:prstGeom prst="rect">
              <a:avLst/>
            </a:prstGeom>
            <a:solidFill>
              <a:srgbClr val="4D4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0" name="Google Shape;680;p19"/>
            <p:cNvGrpSpPr/>
            <p:nvPr/>
          </p:nvGrpSpPr>
          <p:grpSpPr>
            <a:xfrm>
              <a:off x="6435810" y="2702596"/>
              <a:ext cx="2494563" cy="1735654"/>
              <a:chOff x="6435810" y="2702596"/>
              <a:chExt cx="2494563" cy="1735654"/>
            </a:xfrm>
          </p:grpSpPr>
          <p:grpSp>
            <p:nvGrpSpPr>
              <p:cNvPr id="681" name="Google Shape;681;p19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682" name="Google Shape;682;p19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683" name="Google Shape;683;p19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84" name="Google Shape;684;p19"/>
              <p:cNvSpPr txBox="1"/>
              <p:nvPr/>
            </p:nvSpPr>
            <p:spPr>
              <a:xfrm>
                <a:off x="6435810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s" sz="120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PASO 4</a:t>
                </a:r>
                <a:endParaRPr b="1" i="0" sz="12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685" name="Google Shape;685;p19"/>
              <p:cNvSpPr txBox="1"/>
              <p:nvPr/>
            </p:nvSpPr>
            <p:spPr>
              <a:xfrm>
                <a:off x="6676773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1" i="0" lang="es" sz="150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Compra permitida</a:t>
                </a:r>
                <a:endParaRPr b="1" i="0" sz="15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Dos compras en la misma</a:t>
                </a:r>
                <a:endParaRPr b="1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sesión crean una arista</a:t>
                </a:r>
                <a:endParaRPr b="0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en el grafo de co-compra.</a:t>
                </a:r>
                <a:endParaRPr b="0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686" name="Google Shape;686;p19"/>
          <p:cNvGrpSpPr/>
          <p:nvPr/>
        </p:nvGrpSpPr>
        <p:grpSpPr>
          <a:xfrm>
            <a:off x="360191" y="1470801"/>
            <a:ext cx="2580731" cy="1728863"/>
            <a:chOff x="495991" y="1857800"/>
            <a:chExt cx="2580731" cy="1728863"/>
          </a:xfrm>
        </p:grpSpPr>
        <p:sp>
          <p:nvSpPr>
            <p:cNvPr id="687" name="Google Shape;687;p19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8" name="Google Shape;688;p19"/>
            <p:cNvGrpSpPr/>
            <p:nvPr/>
          </p:nvGrpSpPr>
          <p:grpSpPr>
            <a:xfrm>
              <a:off x="495991" y="1857800"/>
              <a:ext cx="2580731" cy="1728863"/>
              <a:chOff x="495991" y="1857800"/>
              <a:chExt cx="2580731" cy="1728863"/>
            </a:xfrm>
          </p:grpSpPr>
          <p:sp>
            <p:nvSpPr>
              <p:cNvPr id="689" name="Google Shape;689;p19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s" sz="120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PASO 1</a:t>
                </a:r>
                <a:endParaRPr b="1" i="0" sz="12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690" name="Google Shape;690;p19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691" name="Google Shape;691;p19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692" name="Google Shape;692;p19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3" name="Google Shape;693;p19"/>
              <p:cNvSpPr txBox="1"/>
              <p:nvPr/>
            </p:nvSpPr>
            <p:spPr>
              <a:xfrm>
                <a:off x="823122" y="185780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1" i="0" lang="es" sz="150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Simular una vista</a:t>
                </a:r>
                <a:endParaRPr b="1" i="0" sz="15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Pestaña Simular evento:</a:t>
                </a:r>
                <a:endParaRPr b="1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 ruta llega al híbrido 1+4</a:t>
                </a:r>
                <a:endParaRPr b="0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y devuelve 5 productos.</a:t>
                </a:r>
                <a:endParaRPr b="0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694" name="Google Shape;694;p19"/>
          <p:cNvGrpSpPr/>
          <p:nvPr/>
        </p:nvGrpSpPr>
        <p:grpSpPr>
          <a:xfrm>
            <a:off x="2389795" y="2315597"/>
            <a:ext cx="2501355" cy="1735654"/>
            <a:chOff x="2525595" y="2702596"/>
            <a:chExt cx="2501355" cy="1735654"/>
          </a:xfrm>
        </p:grpSpPr>
        <p:sp>
          <p:nvSpPr>
            <p:cNvPr id="695" name="Google Shape;695;p19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0E1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6" name="Google Shape;696;p19"/>
            <p:cNvGrpSpPr/>
            <p:nvPr/>
          </p:nvGrpSpPr>
          <p:grpSpPr>
            <a:xfrm>
              <a:off x="2525595" y="2702596"/>
              <a:ext cx="2501355" cy="1735654"/>
              <a:chOff x="2525595" y="2702596"/>
              <a:chExt cx="2501355" cy="1735654"/>
            </a:xfrm>
          </p:grpSpPr>
          <p:sp>
            <p:nvSpPr>
              <p:cNvPr id="697" name="Google Shape;697;p19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s" sz="120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PASO 2</a:t>
                </a:r>
                <a:endParaRPr b="1" i="0" sz="12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698" name="Google Shape;698;p19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699" name="Google Shape;699;p19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00" name="Google Shape;700;p19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1" name="Google Shape;701;p19"/>
              <p:cNvSpPr txBox="1"/>
              <p:nvPr/>
            </p:nvSpPr>
            <p:spPr>
              <a:xfrm>
                <a:off x="2773350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1" i="0" lang="es" sz="150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Buscar el producto</a:t>
                </a:r>
                <a:endParaRPr b="1" i="0" sz="15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Por ID: HASH y luego CACHE.</a:t>
                </a:r>
                <a:endParaRPr b="1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Por precio: rango con</a:t>
                </a:r>
                <a:endParaRPr b="0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s" sz="950" u="none" cap="none" strike="noStrike">
                    <a:solidFill>
                      <a:srgbClr val="4D4B4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el B+Tree.</a:t>
                </a:r>
                <a:endParaRPr b="0" i="0" sz="800" u="none" cap="none" strike="noStrike">
                  <a:solidFill>
                    <a:srgbClr val="4D4B4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sp>
        <p:nvSpPr>
          <p:cNvPr id="702" name="Google Shape;702;p19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 en vivo · un evento atraviesa el pipeline</a:t>
            </a:r>
            <a:endParaRPr/>
          </a:p>
        </p:txBody>
      </p:sp>
      <p:sp>
        <p:nvSpPr>
          <p:cNvPr id="703" name="Google Shape;703;p19"/>
          <p:cNvSpPr/>
          <p:nvPr/>
        </p:nvSpPr>
        <p:spPr>
          <a:xfrm>
            <a:off x="-1164650" y="147125"/>
            <a:ext cx="851400" cy="36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miguel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09" name="Google Shape;709;p20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Conclusiones</a:t>
            </a:r>
            <a:endParaRPr/>
          </a:p>
        </p:txBody>
      </p:sp>
      <p:sp>
        <p:nvSpPr>
          <p:cNvPr id="710" name="Google Shape;710;p20"/>
          <p:cNvSpPr txBox="1"/>
          <p:nvPr/>
        </p:nvSpPr>
        <p:spPr>
          <a:xfrm>
            <a:off x="548640" y="1353312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4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711" name="Google Shape;711;p20"/>
          <p:cNvSpPr txBox="1"/>
          <p:nvPr/>
        </p:nvSpPr>
        <p:spPr>
          <a:xfrm>
            <a:off x="1115568" y="1508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Cada patrón, su estructura</a:t>
            </a:r>
            <a:endParaRPr/>
          </a:p>
        </p:txBody>
      </p:sp>
      <p:sp>
        <p:nvSpPr>
          <p:cNvPr id="712" name="Google Shape;712;p20"/>
          <p:cNvSpPr txBox="1"/>
          <p:nvPr/>
        </p:nvSpPr>
        <p:spPr>
          <a:xfrm>
            <a:off x="1115568" y="1874520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Hash por clave, B+Tree por rango, heap por prioridad, grafo por relación.</a:t>
            </a:r>
            <a:endParaRPr/>
          </a:p>
        </p:txBody>
      </p:sp>
      <p:sp>
        <p:nvSpPr>
          <p:cNvPr id="713" name="Google Shape;713;p20"/>
          <p:cNvSpPr txBox="1"/>
          <p:nvPr/>
        </p:nvSpPr>
        <p:spPr>
          <a:xfrm>
            <a:off x="4617720" y="1353312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4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714" name="Google Shape;714;p20"/>
          <p:cNvSpPr txBox="1"/>
          <p:nvPr/>
        </p:nvSpPr>
        <p:spPr>
          <a:xfrm>
            <a:off x="5184648" y="1508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Complejidad ≠ utilidad</a:t>
            </a:r>
            <a:endParaRPr/>
          </a:p>
        </p:txBody>
      </p:sp>
      <p:sp>
        <p:nvSpPr>
          <p:cNvPr id="715" name="Google Shape;715;p20"/>
          <p:cNvSpPr txBox="1"/>
          <p:nvPr/>
        </p:nvSpPr>
        <p:spPr>
          <a:xfrm>
            <a:off x="5184648" y="1874520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El grafo de sesión (28 %) superó al híbrido (27 %) y a HNSW (10,7 %).</a:t>
            </a:r>
            <a:endParaRPr/>
          </a:p>
        </p:txBody>
      </p:sp>
      <p:sp>
        <p:nvSpPr>
          <p:cNvPr id="716" name="Google Shape;716;p20"/>
          <p:cNvSpPr txBox="1"/>
          <p:nvPr/>
        </p:nvSpPr>
        <p:spPr>
          <a:xfrm>
            <a:off x="548640" y="2816352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4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717" name="Google Shape;717;p20"/>
          <p:cNvSpPr txBox="1"/>
          <p:nvPr/>
        </p:nvSpPr>
        <p:spPr>
          <a:xfrm>
            <a:off x="1115568" y="2971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Aproximar es negociar</a:t>
            </a:r>
            <a:endParaRPr/>
          </a:p>
        </p:txBody>
      </p:sp>
      <p:sp>
        <p:nvSpPr>
          <p:cNvPr id="718" name="Google Shape;718;p20"/>
          <p:cNvSpPr txBox="1"/>
          <p:nvPr/>
        </p:nvSpPr>
        <p:spPr>
          <a:xfrm>
            <a:off x="1115568" y="3337560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HNSW: 5,7× más rápido con 89 % de recall. LSH: 99 % de recall con 80 candidatos.</a:t>
            </a:r>
            <a:endParaRPr/>
          </a:p>
        </p:txBody>
      </p:sp>
      <p:sp>
        <p:nvSpPr>
          <p:cNvPr id="719" name="Google Shape;719;p20"/>
          <p:cNvSpPr txBox="1"/>
          <p:nvPr/>
        </p:nvSpPr>
        <p:spPr>
          <a:xfrm>
            <a:off x="4617720" y="2816352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4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/>
          </a:p>
        </p:txBody>
      </p:sp>
      <p:sp>
        <p:nvSpPr>
          <p:cNvPr id="720" name="Google Shape;720;p20"/>
          <p:cNvSpPr txBox="1"/>
          <p:nvPr/>
        </p:nvSpPr>
        <p:spPr>
          <a:xfrm>
            <a:off x="5184648" y="2971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5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Límites y siguiente paso</a:t>
            </a:r>
            <a:endParaRPr/>
          </a:p>
        </p:txBody>
      </p:sp>
      <p:sp>
        <p:nvSpPr>
          <p:cNvPr id="721" name="Google Shape;721;p20"/>
          <p:cNvSpPr txBox="1"/>
          <p:nvPr/>
        </p:nvSpPr>
        <p:spPr>
          <a:xfrm>
            <a:off x="5184648" y="3337560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Benchmarks hasta 1M y fraude sintético. Siguiente: B+Tree con inserciones y un Count-Min más ancho con ventana.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1"/>
          <p:cNvSpPr txBox="1"/>
          <p:nvPr/>
        </p:nvSpPr>
        <p:spPr>
          <a:xfrm>
            <a:off x="914400" y="3429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¡Gracias! ¿Preguntas?</a:t>
            </a:r>
            <a:endParaRPr/>
          </a:p>
        </p:txBody>
      </p:sp>
      <p:sp>
        <p:nvSpPr>
          <p:cNvPr id="727" name="Google Shape;727;p21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A1A0A0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github.com/mavaldivia-png/comercio_electronico_REES46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33" name="Google Shape;733;p14"/>
          <p:cNvSpPr txBox="1"/>
          <p:nvPr/>
        </p:nvSpPr>
        <p:spPr>
          <a:xfrm>
            <a:off x="548640" y="8412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7 · MinHash + LSH: menos pares que comparar</a:t>
            </a:r>
            <a:endParaRPr/>
          </a:p>
        </p:txBody>
      </p:sp>
      <p:sp>
        <p:nvSpPr>
          <p:cNvPr id="734" name="Google Shape;734;p14"/>
          <p:cNvSpPr/>
          <p:nvPr/>
        </p:nvSpPr>
        <p:spPr>
          <a:xfrm>
            <a:off x="548640" y="1417320"/>
            <a:ext cx="4023360" cy="56692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4"/>
          <p:cNvSpPr/>
          <p:nvPr/>
        </p:nvSpPr>
        <p:spPr>
          <a:xfrm>
            <a:off x="667512" y="1527048"/>
            <a:ext cx="347472" cy="347472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736" name="Google Shape;736;p14"/>
          <p:cNvSpPr txBox="1"/>
          <p:nvPr/>
        </p:nvSpPr>
        <p:spPr>
          <a:xfrm>
            <a:off x="1143000" y="1490472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Conjunto: usuarios que vieron el producto</a:t>
            </a:r>
            <a:endParaRPr/>
          </a:p>
        </p:txBody>
      </p:sp>
      <p:sp>
        <p:nvSpPr>
          <p:cNvPr id="737" name="Google Shape;737;p14"/>
          <p:cNvSpPr txBox="1"/>
          <p:nvPr/>
        </p:nvSpPr>
        <p:spPr>
          <a:xfrm>
            <a:off x="1143000" y="1728216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P1 = {u1, u4, u9}</a:t>
            </a:r>
            <a:endParaRPr/>
          </a:p>
        </p:txBody>
      </p:sp>
      <p:cxnSp>
        <p:nvCxnSpPr>
          <p:cNvPr id="738" name="Google Shape;738;p14"/>
          <p:cNvCxnSpPr/>
          <p:nvPr/>
        </p:nvCxnSpPr>
        <p:spPr>
          <a:xfrm>
            <a:off x="841248" y="1984248"/>
            <a:ext cx="0" cy="146304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9" name="Google Shape;739;p14"/>
          <p:cNvSpPr/>
          <p:nvPr/>
        </p:nvSpPr>
        <p:spPr>
          <a:xfrm>
            <a:off x="548640" y="2130552"/>
            <a:ext cx="4023360" cy="56692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4"/>
          <p:cNvSpPr/>
          <p:nvPr/>
        </p:nvSpPr>
        <p:spPr>
          <a:xfrm>
            <a:off x="667512" y="2240280"/>
            <a:ext cx="347472" cy="347472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741" name="Google Shape;741;p14"/>
          <p:cNvSpPr txBox="1"/>
          <p:nvPr/>
        </p:nvSpPr>
        <p:spPr>
          <a:xfrm>
            <a:off x="1143000" y="2203704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Firma MinHash: 64 mínimos de hash</a:t>
            </a:r>
            <a:endParaRPr/>
          </a:p>
        </p:txBody>
      </p:sp>
      <p:sp>
        <p:nvSpPr>
          <p:cNvPr id="742" name="Google Shape;742;p14"/>
          <p:cNvSpPr txBox="1"/>
          <p:nvPr/>
        </p:nvSpPr>
        <p:spPr>
          <a:xfrm>
            <a:off x="1143000" y="2441448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P(mínimos iguales) = Jaccard(P1, P2)</a:t>
            </a:r>
            <a:endParaRPr/>
          </a:p>
        </p:txBody>
      </p:sp>
      <p:cxnSp>
        <p:nvCxnSpPr>
          <p:cNvPr id="743" name="Google Shape;743;p14"/>
          <p:cNvCxnSpPr/>
          <p:nvPr/>
        </p:nvCxnSpPr>
        <p:spPr>
          <a:xfrm>
            <a:off x="841248" y="2697480"/>
            <a:ext cx="0" cy="146304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4" name="Google Shape;744;p14"/>
          <p:cNvSpPr/>
          <p:nvPr/>
        </p:nvSpPr>
        <p:spPr>
          <a:xfrm>
            <a:off x="548640" y="2843784"/>
            <a:ext cx="4023360" cy="56692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4"/>
          <p:cNvSpPr/>
          <p:nvPr/>
        </p:nvSpPr>
        <p:spPr>
          <a:xfrm>
            <a:off x="667512" y="2953512"/>
            <a:ext cx="347472" cy="347472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746" name="Google Shape;746;p14"/>
          <p:cNvSpPr txBox="1"/>
          <p:nvPr/>
        </p:nvSpPr>
        <p:spPr>
          <a:xfrm>
            <a:off x="1143000" y="2916936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Bandas: 64 = b bandas × r filas</a:t>
            </a:r>
            <a:endParaRPr/>
          </a:p>
        </p:txBody>
      </p:sp>
      <p:sp>
        <p:nvSpPr>
          <p:cNvPr id="747" name="Google Shape;747;p14"/>
          <p:cNvSpPr txBox="1"/>
          <p:nvPr/>
        </p:nvSpPr>
        <p:spPr>
          <a:xfrm>
            <a:off x="1143000" y="3154680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misma banda → mismo bucket → candidato</a:t>
            </a:r>
            <a:endParaRPr/>
          </a:p>
        </p:txBody>
      </p:sp>
      <p:cxnSp>
        <p:nvCxnSpPr>
          <p:cNvPr id="748" name="Google Shape;748;p14"/>
          <p:cNvCxnSpPr/>
          <p:nvPr/>
        </p:nvCxnSpPr>
        <p:spPr>
          <a:xfrm>
            <a:off x="841248" y="3410712"/>
            <a:ext cx="0" cy="146304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9" name="Google Shape;749;p14"/>
          <p:cNvSpPr/>
          <p:nvPr/>
        </p:nvSpPr>
        <p:spPr>
          <a:xfrm>
            <a:off x="548640" y="3557015"/>
            <a:ext cx="4023360" cy="56692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4"/>
          <p:cNvSpPr/>
          <p:nvPr/>
        </p:nvSpPr>
        <p:spPr>
          <a:xfrm>
            <a:off x="667512" y="3666743"/>
            <a:ext cx="347472" cy="347472"/>
          </a:xfrm>
          <a:prstGeom prst="ellipse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/>
          </a:p>
        </p:txBody>
      </p:sp>
      <p:sp>
        <p:nvSpPr>
          <p:cNvPr id="751" name="Google Shape;751;p14"/>
          <p:cNvSpPr txBox="1"/>
          <p:nvPr/>
        </p:nvSpPr>
        <p:spPr>
          <a:xfrm>
            <a:off x="1143000" y="3630168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50" u="none" cap="none" strike="noStrike">
                <a:solidFill>
                  <a:srgbClr val="4D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Jaccard exacto solo sobre candidatos</a:t>
            </a:r>
            <a:endParaRPr/>
          </a:p>
        </p:txBody>
      </p:sp>
      <p:sp>
        <p:nvSpPr>
          <p:cNvPr id="752" name="Google Shape;752;p14"/>
          <p:cNvSpPr txBox="1"/>
          <p:nvPr/>
        </p:nvSpPr>
        <p:spPr>
          <a:xfrm>
            <a:off x="1143000" y="3867911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top-5 final, comparado con fuerza bruta</a:t>
            </a:r>
            <a:endParaRPr/>
          </a:p>
        </p:txBody>
      </p:sp>
      <p:graphicFrame>
        <p:nvGraphicFramePr>
          <p:cNvPr id="753" name="Google Shape;753;p14"/>
          <p:cNvGraphicFramePr/>
          <p:nvPr/>
        </p:nvGraphicFramePr>
        <p:xfrm>
          <a:off x="4800600" y="1371600"/>
          <a:ext cx="3794760" cy="2514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54" name="Google Shape;754;p14"/>
          <p:cNvSpPr txBox="1"/>
          <p:nvPr/>
        </p:nvSpPr>
        <p:spPr>
          <a:xfrm>
            <a:off x="4800600" y="393192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 64 bandas: 99 % de recall pero 80,75 candidatos por consulta. P(candidato) = 1 − (1 − sʳ)ᵇ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