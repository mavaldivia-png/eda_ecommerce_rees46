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1675"/>
  <p:notesSz cx="6858000" cy="9144000"/>
  <p:embeddedFontLst>
    <p:embeddedFont>
      <p:font typeface="Space Grotesk Light"/>
      <p:regular r:id="rId39"/>
      <p:bold r:id="rId40"/>
    </p:embeddedFont>
    <p:embeddedFont>
      <p:font typeface="Space Grotesk Medium"/>
      <p:regular r:id="rId41"/>
      <p:bold r:id="rId42"/>
    </p:embeddedFont>
    <p:embeddedFont>
      <p:font typeface="Space Grotesk"/>
      <p:regular r:id="rId43"/>
      <p:bold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Light-bold.fntdata"/><Relationship Id="rId20" Type="http://schemas.openxmlformats.org/officeDocument/2006/relationships/slide" Target="slides/slide14.xml"/><Relationship Id="rId42" Type="http://schemas.openxmlformats.org/officeDocument/2006/relationships/font" Target="fonts/SpaceGroteskMedium-bold.fntdata"/><Relationship Id="rId41" Type="http://schemas.openxmlformats.org/officeDocument/2006/relationships/font" Target="fonts/SpaceGroteskMedium-regular.fntdata"/><Relationship Id="rId22" Type="http://schemas.openxmlformats.org/officeDocument/2006/relationships/slide" Target="slides/slide16.xml"/><Relationship Id="rId44" Type="http://schemas.openxmlformats.org/officeDocument/2006/relationships/font" Target="fonts/SpaceGrotesk-bold.fntdata"/><Relationship Id="rId21" Type="http://schemas.openxmlformats.org/officeDocument/2006/relationships/slide" Target="slides/slide15.xml"/><Relationship Id="rId43" Type="http://schemas.openxmlformats.org/officeDocument/2006/relationships/font" Target="fonts/SpaceGrotesk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.fntdata"/><Relationship Id="rId23" Type="http://schemas.openxmlformats.org/officeDocument/2006/relationships/slide" Target="slides/slide17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SpaceGroteskLight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7bc997f09448e73c_1_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h7bc997f09448e7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7bc997f09448e73c_1_66:notes"/>
          <p:cNvSpPr/>
          <p:nvPr>
            <p:ph idx="2" type="sldImg"/>
          </p:nvPr>
        </p:nvSpPr>
        <p:spPr>
          <a:xfrm>
            <a:off x="3810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h7bc997f09448e73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7bc997f09448e73c_1_486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h7bc997f09448e73c_1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7bc997f09448e73c_1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h7bc997f09448e73c_1_6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7bc997f09448e73c_1_547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7bc997f09448e73c_1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7bc997f09448e73c_1_615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h7bc997f09448e73c_1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7bc997f09448e73c_1_653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h7bc997f09448e73c_1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7bc997f09448e73c_1_662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h7bc997f09448e73c_1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7bc997f09448e73c_1_671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h7bc997f09448e73c_1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h7bc997f09448e73c_1_222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h7bc997f09448e73c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h7bc997f09448e73c_1_354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h7bc997f09448e73c_1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-137063" y="-66700"/>
            <a:ext cx="12469800" cy="71025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 rotWithShape="1">
          <a:blip r:embed="rId2">
            <a:alphaModFix amt="32000"/>
          </a:blip>
          <a:srcRect b="15505" l="0" r="1117" t="0"/>
          <a:stretch/>
        </p:blipFill>
        <p:spPr>
          <a:xfrm>
            <a:off x="-138996" y="-79467"/>
            <a:ext cx="12469668" cy="7107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3"/>
          <p:cNvGrpSpPr/>
          <p:nvPr/>
        </p:nvGrpSpPr>
        <p:grpSpPr>
          <a:xfrm>
            <a:off x="529704" y="480467"/>
            <a:ext cx="11136137" cy="533520"/>
            <a:chOff x="314313" y="360350"/>
            <a:chExt cx="8352312" cy="400150"/>
          </a:xfrm>
        </p:grpSpPr>
        <p:pic>
          <p:nvPicPr>
            <p:cNvPr id="85" name="Google Shape;8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_Blanco">
  <p:cSld name="BLANK_1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3198115" y="2325700"/>
            <a:ext cx="57954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-67665" y="-100000"/>
            <a:ext cx="12330900" cy="70581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5"/>
          <p:cNvGrpSpPr/>
          <p:nvPr/>
        </p:nvGrpSpPr>
        <p:grpSpPr>
          <a:xfrm>
            <a:off x="529704" y="480467"/>
            <a:ext cx="11136137" cy="533520"/>
            <a:chOff x="314313" y="360350"/>
            <a:chExt cx="8352312" cy="400150"/>
          </a:xfrm>
        </p:grpSpPr>
        <p:pic>
          <p:nvPicPr>
            <p:cNvPr id="95" name="Google Shape;9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oscuro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-138996" y="-67067"/>
            <a:ext cx="12469800" cy="7094700"/>
          </a:xfrm>
          <a:prstGeom prst="rect">
            <a:avLst/>
          </a:prstGeom>
          <a:solidFill>
            <a:srgbClr val="4D4B4C"/>
          </a:solidFill>
          <a:ln cap="flat" cmpd="sng" w="127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4171" y="2675159"/>
            <a:ext cx="6923332" cy="167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claro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-138996" y="-128000"/>
            <a:ext cx="12469800" cy="7155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9519" y="2924200"/>
            <a:ext cx="6115036" cy="1176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1201" y="5896629"/>
            <a:ext cx="504004" cy="533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-137063" y="-66700"/>
            <a:ext cx="12469800" cy="71025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2">
            <a:alphaModFix amt="32000"/>
          </a:blip>
          <a:srcRect b="15505" l="0" r="1117" t="0"/>
          <a:stretch/>
        </p:blipFill>
        <p:spPr>
          <a:xfrm>
            <a:off x="-138996" y="-79467"/>
            <a:ext cx="12469668" cy="7107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9"/>
          <p:cNvGrpSpPr/>
          <p:nvPr/>
        </p:nvGrpSpPr>
        <p:grpSpPr>
          <a:xfrm>
            <a:off x="529704" y="480467"/>
            <a:ext cx="11136137" cy="533520"/>
            <a:chOff x="314313" y="360350"/>
            <a:chExt cx="8352312" cy="400150"/>
          </a:xfrm>
        </p:grpSpPr>
        <p:pic>
          <p:nvPicPr>
            <p:cNvPr id="116" name="Google Shape;11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" name="Google Shape;1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_Blanco">
  <p:cSld name="BLANK_1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98115" y="2325700"/>
            <a:ext cx="57954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-67665" y="-100000"/>
            <a:ext cx="12330900" cy="70581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21"/>
          <p:cNvGrpSpPr/>
          <p:nvPr/>
        </p:nvGrpSpPr>
        <p:grpSpPr>
          <a:xfrm>
            <a:off x="529704" y="480467"/>
            <a:ext cx="11136137" cy="533520"/>
            <a:chOff x="314313" y="360350"/>
            <a:chExt cx="8352312" cy="400150"/>
          </a:xfrm>
        </p:grpSpPr>
        <p:pic>
          <p:nvPicPr>
            <p:cNvPr id="126" name="Google Shape;12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-138996" y="-95700"/>
            <a:ext cx="12469800" cy="71232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2"/>
          <p:cNvGrpSpPr/>
          <p:nvPr/>
        </p:nvGrpSpPr>
        <p:grpSpPr>
          <a:xfrm>
            <a:off x="527720" y="480467"/>
            <a:ext cx="11136257" cy="533520"/>
            <a:chOff x="314225" y="360350"/>
            <a:chExt cx="8352401" cy="400150"/>
          </a:xfrm>
        </p:grpSpPr>
        <p:pic>
          <p:nvPicPr>
            <p:cNvPr id="132" name="Google Shape;132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4" name="Google Shape;1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51201" y="5896629"/>
            <a:ext cx="504004" cy="533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838178" y="365125"/>
            <a:ext cx="10515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838178" y="1825625"/>
            <a:ext cx="10515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838178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4038492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61037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ctrTitle"/>
          </p:nvPr>
        </p:nvSpPr>
        <p:spPr>
          <a:xfrm>
            <a:off x="1523959" y="1122363"/>
            <a:ext cx="9143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1523959" y="3602039"/>
            <a:ext cx="9143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idx="10" type="dt"/>
          </p:nvPr>
        </p:nvSpPr>
        <p:spPr>
          <a:xfrm>
            <a:off x="838178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11" type="ftr"/>
          </p:nvPr>
        </p:nvSpPr>
        <p:spPr>
          <a:xfrm>
            <a:off x="4038492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61037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/>
        </p:nvSpPr>
        <p:spPr>
          <a:xfrm>
            <a:off x="855250" y="2317800"/>
            <a:ext cx="3204600" cy="6087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Data y Algoritmos</a:t>
            </a:r>
            <a:endParaRPr b="0" i="0" sz="2700" u="none" cap="none" strike="noStrike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703575" y="3234675"/>
            <a:ext cx="10592700" cy="22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7000">
                <a:solidFill>
                  <a:schemeClr val="lt1"/>
                </a:solidFill>
              </a:rPr>
              <a:t>Motor inteligente de e-commerce</a:t>
            </a:r>
            <a:endParaRPr sz="7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7600" u="none" cap="none" strike="noStrike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4B4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/>
        </p:nvSpPr>
        <p:spPr>
          <a:xfrm>
            <a:off x="1021995" y="351433"/>
            <a:ext cx="584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</a:t>
            </a:r>
            <a:r>
              <a:rPr b="1" i="0" lang="en-US" sz="37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 b="1" i="0" sz="37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970118" y="481405"/>
            <a:ext cx="630154" cy="56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4659" y="426639"/>
            <a:ext cx="2462016" cy="474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64401">
            <a:off x="8604495" y="2303103"/>
            <a:ext cx="2989904" cy="29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5872" y="1295616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/>
        </p:nvSpPr>
        <p:spPr>
          <a:xfrm>
            <a:off x="1916860" y="1368325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Contexto y desafío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1262156" y="1176711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3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7637" y="2015865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1309521" y="1852364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3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1916852" y="2078996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Arquitectura de la Solución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7637" y="2710639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1262181" y="2566260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3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1916852" y="2799131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Preparación de datos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7637" y="3405423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 txBox="1"/>
          <p:nvPr/>
        </p:nvSpPr>
        <p:spPr>
          <a:xfrm>
            <a:off x="1262181" y="3261044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3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916852" y="3433613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Estructura e indexación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8993" y="4021623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1979981" y="4094333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Detección y recomendación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1325277" y="3902718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32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0758" y="4741872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1372642" y="4578371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32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1979973" y="4718375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Análisis de relaciones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0758" y="5451084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/>
        </p:nvSpPr>
        <p:spPr>
          <a:xfrm>
            <a:off x="1325302" y="5292267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32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1979973" y="5452949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Experimentos y Benchmarks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3217" y="6007745"/>
            <a:ext cx="4969979" cy="4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/>
        </p:nvSpPr>
        <p:spPr>
          <a:xfrm>
            <a:off x="1347761" y="5848928"/>
            <a:ext cx="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32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8</a:t>
            </a:r>
            <a:endParaRPr b="1" i="0" sz="32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002432" y="6009610"/>
            <a:ext cx="39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Conclusiones</a:t>
            </a:r>
            <a:endParaRPr b="0" i="0" sz="16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192" name="Google Shape;1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Una historia, cuatro responsabilidades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9784080" y="6291072"/>
            <a:ext cx="1691640" cy="310896"/>
          </a:xfrm>
          <a:prstGeom prst="roundRect">
            <a:avLst>
              <a:gd fmla="val 16667" name="adj"/>
            </a:avLst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9921240" y="630021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/>
          </a:p>
        </p:txBody>
      </p:sp>
      <p:sp>
        <p:nvSpPr>
          <p:cNvPr id="197" name="Google Shape;197;p28"/>
          <p:cNvSpPr/>
          <p:nvPr/>
        </p:nvSpPr>
        <p:spPr>
          <a:xfrm>
            <a:off x="685800" y="2377440"/>
            <a:ext cx="5212080" cy="1444752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685800" y="2377440"/>
            <a:ext cx="68580" cy="1444752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914400" y="2542032"/>
            <a:ext cx="4773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01 · Flujo confiable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914400" y="3072384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Etapas 0–2 · Ingesta, limpieza y tiempo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6355080" y="2377440"/>
            <a:ext cx="5212080" cy="1444752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6355080" y="2377440"/>
            <a:ext cx="68580" cy="1444752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6583680" y="2542032"/>
            <a:ext cx="4773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02 · Consultas eficientes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6583680" y="3072384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Etapas 3–5 · Hash, caché y B+Tree</a:t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685800" y="4069080"/>
            <a:ext cx="5212080" cy="1444752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685800" y="4069080"/>
            <a:ext cx="68580" cy="1444752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914400" y="4233672"/>
            <a:ext cx="4773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03 · Señales y similitud</a:t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914400" y="4764024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Etapas 6–7 · Bloom, CMS, LSH, HNSW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6355080" y="4069080"/>
            <a:ext cx="5212080" cy="1444752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6355080" y="4069080"/>
            <a:ext cx="68580" cy="1444752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6583680" y="4233672"/>
            <a:ext cx="4773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04 · Valor y evidencia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6583680" y="4764024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Etapas 8–9 · Grafos, benchmarks, cierre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/>
          <p:nvPr/>
        </p:nvSpPr>
        <p:spPr>
          <a:xfrm>
            <a:off x="-199628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Contexto y desafío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2" name="Google Shape;222;p29" title="UTEC_CTOChiefTechnology_Office_H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6847" y="759699"/>
            <a:ext cx="7603994" cy="7603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502920" y="27432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Caso de uso: una sesión de comercio electrónico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502920" y="8321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De interacciones de usuario a decisiones con restricciones de tiempo y memoria</a:t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502920" y="1271016"/>
            <a:ext cx="11277295" cy="228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548640" y="1508760"/>
            <a:ext cx="3520440" cy="297180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548640" y="1508760"/>
            <a:ext cx="68580" cy="297180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722376" y="1627631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Evento observado</a:t>
            </a:r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722376" y="2139696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Usuario ve producto A → agrega B al carrito → compra C.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Cada evento contiene producto, tipo de acción y marca temporal.</a:t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4315968" y="1508760"/>
            <a:ext cx="3520440" cy="297180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4315968" y="1508760"/>
            <a:ext cx="68580" cy="297180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4489704" y="1627631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Problema técnico</a:t>
            </a: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4489704" y="2139696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Los eventos pueden duplicarse, llegar en volumen elevado y requerir búsquedas repetidas.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Una partición temporal incorrecta contamina la evaluación.</a:t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8092440" y="1508760"/>
            <a:ext cx="3520440" cy="297180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8092440" y="1508760"/>
            <a:ext cx="68580" cy="297180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8266175" y="1627631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Respuesta del pipeline</a:t>
            </a:r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8266175" y="2139696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Normalizar y ordenar; construir índices históricos; consultar similitud; actualizar señales y relaciones de co-compra.</a:t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640080" y="49377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Pregunta guía: ¿cómo elegimos una estructura distinta para cada operación sin confundir rapidez con calidad?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/>
          <p:nvPr/>
        </p:nvSpPr>
        <p:spPr>
          <a:xfrm>
            <a:off x="502920" y="941832"/>
            <a:ext cx="11155800" cy="549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685800" y="1143000"/>
            <a:ext cx="1069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El desafío: convertir eventos en decisiones</a:t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704088" y="1810512"/>
            <a:ext cx="1051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Una compra no comienza con una recomendación; comienza con datos confiables</a:t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685800" y="2331720"/>
            <a:ext cx="3520500" cy="24231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685800" y="2331720"/>
            <a:ext cx="68700" cy="24231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914400" y="2496312"/>
            <a:ext cx="308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255" name="Google Shape;255;p31"/>
          <p:cNvSpPr txBox="1"/>
          <p:nvPr/>
        </p:nvSpPr>
        <p:spPr>
          <a:xfrm>
            <a:off x="914400" y="3026663"/>
            <a:ext cx="30633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Eventos view, cart y purchase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Volumen, duplicados y orden temporal</a:t>
            </a: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4343400" y="2331720"/>
            <a:ext cx="3520500" cy="24231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4343400" y="2331720"/>
            <a:ext cx="68700" cy="24231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4572000" y="2496312"/>
            <a:ext cx="308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  <a:endParaRPr/>
          </a:p>
        </p:txBody>
      </p:sp>
      <p:sp>
        <p:nvSpPr>
          <p:cNvPr id="259" name="Google Shape;259;p31"/>
          <p:cNvSpPr txBox="1"/>
          <p:nvPr/>
        </p:nvSpPr>
        <p:spPr>
          <a:xfrm>
            <a:off x="4572000" y="3026663"/>
            <a:ext cx="30633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Recomendar con datos futuros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Consultas lentas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Señales mal interpretadas</a:t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8001000" y="2331720"/>
            <a:ext cx="3520500" cy="24231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8001000" y="2331720"/>
            <a:ext cx="68700" cy="24231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8229600" y="2496312"/>
            <a:ext cx="308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8229600" y="3026663"/>
            <a:ext cx="30633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Pipeline reproducible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Índices adecuados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Comparaciones medibles</a:t>
            </a:r>
            <a:endParaRPr/>
          </a:p>
        </p:txBody>
      </p:sp>
      <p:sp>
        <p:nvSpPr>
          <p:cNvPr id="264" name="Google Shape;264;p31"/>
          <p:cNvSpPr txBox="1"/>
          <p:nvPr/>
        </p:nvSpPr>
        <p:spPr>
          <a:xfrm>
            <a:off x="914400" y="5349240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Pregunta central: ¿qué estructura conviene para cada patrón de acceso?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11567160" y="6455664"/>
            <a:ext cx="32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/>
          <p:nvPr/>
        </p:nvSpPr>
        <p:spPr>
          <a:xfrm>
            <a:off x="-146163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72" name="Google Shape;27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70" y="3121535"/>
            <a:ext cx="6872387" cy="32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735147" y="3054400"/>
            <a:ext cx="5840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la Solución</a:t>
            </a:r>
            <a:endParaRPr b="1" i="0" sz="2400" u="none" cap="none" strike="noStrike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594360" y="29260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UTEC Posgrado  /  REES46</a:t>
            </a:r>
            <a:endParaRPr/>
          </a:p>
        </p:txBody>
      </p:sp>
      <p:sp>
        <p:nvSpPr>
          <p:cNvPr id="283" name="Google Shape;283;p33"/>
          <p:cNvSpPr txBox="1"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Arquitectura integral de la solución</a:t>
            </a:r>
            <a:endParaRPr/>
          </a:p>
        </p:txBody>
      </p:sp>
      <p:sp>
        <p:nvSpPr>
          <p:cNvPr id="284" name="Google Shape;284;p33"/>
          <p:cNvSpPr txBox="1"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Una entrada confiable alimenta tres rutas de decisión; cada estructura resuelve un patrón de acceso distinto</a:t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>
            <a:off x="640080" y="2084831"/>
            <a:ext cx="10881360" cy="22860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INTEGRANTE 1</a:t>
            </a:r>
            <a:endParaRPr/>
          </a:p>
        </p:txBody>
      </p:sp>
      <p:sp>
        <p:nvSpPr>
          <p:cNvPr id="287" name="Google Shape;287;p33"/>
          <p:cNvSpPr/>
          <p:nvPr/>
        </p:nvSpPr>
        <p:spPr>
          <a:xfrm>
            <a:off x="777240" y="2423160"/>
            <a:ext cx="1828800" cy="758952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941832" y="254203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EVENTOS CRUDOS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10 M registros</a:t>
            </a:r>
            <a:endParaRPr/>
          </a:p>
        </p:txBody>
      </p:sp>
      <p:sp>
        <p:nvSpPr>
          <p:cNvPr id="289" name="Google Shape;289;p33"/>
          <p:cNvSpPr/>
          <p:nvPr/>
        </p:nvSpPr>
        <p:spPr>
          <a:xfrm>
            <a:off x="3154680" y="2423160"/>
            <a:ext cx="2423160" cy="758952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3282696" y="2532888"/>
            <a:ext cx="21762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ETAPAS 0–2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Limpieza + orden temporal</a:t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6126480" y="2423160"/>
            <a:ext cx="2468880" cy="758952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6263640" y="253288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ETAPAS 3–5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Hash · LRU · B+Tree</a:t>
            </a:r>
            <a:endParaRPr/>
          </a:p>
        </p:txBody>
      </p:sp>
      <p:sp>
        <p:nvSpPr>
          <p:cNvPr id="293" name="Google Shape;293;p33"/>
          <p:cNvSpPr/>
          <p:nvPr/>
        </p:nvSpPr>
        <p:spPr>
          <a:xfrm>
            <a:off x="9125712" y="2423160"/>
            <a:ext cx="2057400" cy="758952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9253728" y="2532888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Evento clasificado</a:t>
            </a:r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2724912" y="256032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5669280" y="256032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97" name="Google Shape;297;p33"/>
          <p:cNvSpPr txBox="1"/>
          <p:nvPr/>
        </p:nvSpPr>
        <p:spPr>
          <a:xfrm>
            <a:off x="8705088" y="256032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914400" y="3977639"/>
            <a:ext cx="2852928" cy="1170432"/>
          </a:xfrm>
          <a:prstGeom prst="roundRect">
            <a:avLst>
              <a:gd fmla="val 16667" name="adj"/>
            </a:avLst>
          </a:prstGeom>
          <a:solidFill>
            <a:srgbClr val="F4F8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914400" y="3977639"/>
            <a:ext cx="2852928" cy="82296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 txBox="1"/>
          <p:nvPr/>
        </p:nvSpPr>
        <p:spPr>
          <a:xfrm>
            <a:off x="1024128" y="4133087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VISTA / CARRITO</a:t>
            </a:r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1024128" y="4498848"/>
            <a:ext cx="26517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MinHash + LSH · HNSW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Recomendación Top-5</a:t>
            </a:r>
            <a:endParaRPr/>
          </a:p>
        </p:txBody>
      </p:sp>
      <p:sp>
        <p:nvSpPr>
          <p:cNvPr id="302" name="Google Shape;302;p33"/>
          <p:cNvSpPr/>
          <p:nvPr/>
        </p:nvSpPr>
        <p:spPr>
          <a:xfrm>
            <a:off x="4279392" y="3977639"/>
            <a:ext cx="2852928" cy="1170432"/>
          </a:xfrm>
          <a:prstGeom prst="roundRect">
            <a:avLst>
              <a:gd fmla="val 16667" name="adj"/>
            </a:avLst>
          </a:prstGeom>
          <a:solidFill>
            <a:srgbClr val="F4F8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4279392" y="3977639"/>
            <a:ext cx="2852928" cy="82296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4389120" y="4133087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COMPRA / SEÑALES</a:t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4389120" y="4498848"/>
            <a:ext cx="26517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Bloom · Count-Min Sketch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Estimación, no fraude confirmado</a:t>
            </a:r>
            <a:endParaRPr/>
          </a:p>
        </p:txBody>
      </p:sp>
      <p:sp>
        <p:nvSpPr>
          <p:cNvPr id="306" name="Google Shape;306;p33"/>
          <p:cNvSpPr/>
          <p:nvPr/>
        </p:nvSpPr>
        <p:spPr>
          <a:xfrm>
            <a:off x="7644383" y="3977639"/>
            <a:ext cx="2852928" cy="1170432"/>
          </a:xfrm>
          <a:prstGeom prst="roundRect">
            <a:avLst>
              <a:gd fmla="val 16667" name="adj"/>
            </a:avLst>
          </a:prstGeom>
          <a:solidFill>
            <a:srgbClr val="F4F8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7644383" y="3977639"/>
            <a:ext cx="2852928" cy="82296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 txBox="1"/>
          <p:nvPr/>
        </p:nvSpPr>
        <p:spPr>
          <a:xfrm>
            <a:off x="7754111" y="4133087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COMPRA / RELACIONES</a:t>
            </a:r>
            <a:endParaRPr/>
          </a:p>
        </p:txBody>
      </p:sp>
      <p:sp>
        <p:nvSpPr>
          <p:cNvPr id="309" name="Google Shape;309;p33"/>
          <p:cNvSpPr txBox="1"/>
          <p:nvPr/>
        </p:nvSpPr>
        <p:spPr>
          <a:xfrm>
            <a:off x="7754111" y="4498848"/>
            <a:ext cx="26517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Grafo de co-compra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PageRank · Louvain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9966960" y="324612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311" name="Google Shape;311;p33"/>
          <p:cNvSpPr txBox="1"/>
          <p:nvPr/>
        </p:nvSpPr>
        <p:spPr>
          <a:xfrm>
            <a:off x="1097280" y="559612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Rutas alternativas según el tipo de evento</a:t>
            </a:r>
            <a:endParaRPr/>
          </a:p>
        </p:txBody>
      </p:sp>
      <p:sp>
        <p:nvSpPr>
          <p:cNvPr id="312" name="Google Shape;312;p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02920" y="219456"/>
            <a:ext cx="11277295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Arquitectura: algoritmo y función por etapa</a:t>
            </a:r>
            <a:endParaRPr/>
          </a:p>
        </p:txBody>
      </p:sp>
      <p:sp>
        <p:nvSpPr>
          <p:cNvPr id="315" name="Google Shape;315;p33"/>
          <p:cNvSpPr txBox="1"/>
          <p:nvPr/>
        </p:nvSpPr>
        <p:spPr>
          <a:xfrm>
            <a:off x="502920" y="713232"/>
            <a:ext cx="11277295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Flujo histórico → índices → evento en streaming → tres ramas de decisión</a:t>
            </a:r>
            <a:endParaRPr/>
          </a:p>
        </p:txBody>
      </p:sp>
      <p:sp>
        <p:nvSpPr>
          <p:cNvPr id="316" name="Google Shape;316;p33"/>
          <p:cNvSpPr/>
          <p:nvPr/>
        </p:nvSpPr>
        <p:spPr>
          <a:xfrm>
            <a:off x="411480" y="1371600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502920" y="1463040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0 · Ingesta</a:t>
            </a: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502920" y="1865376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FIFO / bloques</a:t>
            </a:r>
            <a:endParaRPr/>
          </a:p>
        </p:txBody>
      </p:sp>
      <p:sp>
        <p:nvSpPr>
          <p:cNvPr id="319" name="Google Shape;319;p33"/>
          <p:cNvSpPr/>
          <p:nvPr/>
        </p:nvSpPr>
        <p:spPr>
          <a:xfrm>
            <a:off x="2685227" y="1371600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2776667" y="1463040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1 · Calidad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2776667" y="1865376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Hash / dedup.</a:t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4958974" y="1371600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5050414" y="1463040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2 · Tiempo</a:t>
            </a:r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5050414" y="1865376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Merge sort / split</a:t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7232721" y="1371600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7324161" y="1463040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3 · Catálogo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7324161" y="1865376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Hash / sparse</a:t>
            </a: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9506468" y="1371600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9597908" y="1463040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4 · Acceso</a:t>
            </a:r>
            <a:endParaRPr/>
          </a:p>
        </p:txBody>
      </p:sp>
      <p:sp>
        <p:nvSpPr>
          <p:cNvPr id="330" name="Google Shape;330;p33"/>
          <p:cNvSpPr txBox="1"/>
          <p:nvPr/>
        </p:nvSpPr>
        <p:spPr>
          <a:xfrm>
            <a:off x="9597908" y="1865376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LRU / B+Tree</a:t>
            </a:r>
            <a:endParaRPr/>
          </a:p>
        </p:txBody>
      </p:sp>
      <p:sp>
        <p:nvSpPr>
          <p:cNvPr id="331" name="Google Shape;331;p33"/>
          <p:cNvSpPr/>
          <p:nvPr/>
        </p:nvSpPr>
        <p:spPr>
          <a:xfrm>
            <a:off x="411480" y="2724912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FF5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502920" y="2816352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5 · Consulta</a:t>
            </a:r>
            <a:endParaRPr/>
          </a:p>
        </p:txBody>
      </p:sp>
      <p:sp>
        <p:nvSpPr>
          <p:cNvPr id="333" name="Google Shape;333;p33"/>
          <p:cNvSpPr txBox="1"/>
          <p:nvPr/>
        </p:nvSpPr>
        <p:spPr>
          <a:xfrm>
            <a:off x="502920" y="3218688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Vectores / índice</a:t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>
            <a:off x="2685227" y="2724912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FF5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2776667" y="2816352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6 · Señales</a:t>
            </a: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2776667" y="3218688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Bloom / CMS</a:t>
            </a: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4958974" y="2724912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FF5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5050414" y="2816352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7 · Similitud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5050414" y="3218688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MinHash · LSH · HNSW</a:t>
            </a:r>
            <a:endParaRPr/>
          </a:p>
        </p:txBody>
      </p:sp>
      <p:sp>
        <p:nvSpPr>
          <p:cNvPr id="340" name="Google Shape;340;p33"/>
          <p:cNvSpPr/>
          <p:nvPr/>
        </p:nvSpPr>
        <p:spPr>
          <a:xfrm>
            <a:off x="7232721" y="2724912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FF5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7324161" y="2816352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8 · Relaciones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7324161" y="3218688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Grafo · PageRank · Louvain</a:t>
            </a: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9506468" y="2724912"/>
            <a:ext cx="2154875" cy="1051560"/>
          </a:xfrm>
          <a:prstGeom prst="roundRect">
            <a:avLst>
              <a:gd fmla="val 16667" name="adj"/>
            </a:avLst>
          </a:prstGeom>
          <a:solidFill>
            <a:srgbClr val="EFF5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9597908" y="2816352"/>
            <a:ext cx="1990283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9 · Salida</a:t>
            </a:r>
            <a:endParaRPr/>
          </a:p>
        </p:txBody>
      </p:sp>
      <p:sp>
        <p:nvSpPr>
          <p:cNvPr id="345" name="Google Shape;345;p33"/>
          <p:cNvSpPr txBox="1"/>
          <p:nvPr/>
        </p:nvSpPr>
        <p:spPr>
          <a:xfrm>
            <a:off x="9597908" y="3218688"/>
            <a:ext cx="19902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Trie / Heap Top-K</a:t>
            </a:r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548640" y="4224528"/>
            <a:ext cx="1127729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RUTAS DE EVENTO   view/cart → recomendaciones (etapa 7)     |     purchase → señales (6) + grafo de co-compra (8)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Los índices de 3–5 se construyen con histórico; los eventos futuros no alimentan el entrenamiento.</a:t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548640" y="5614416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Lectura: cada estructura responde una operación distinta; el pipeline no es una cadena lineal única.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Datos y diseño experimental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Separación temporal para evitar fuga de información</a:t>
            </a:r>
            <a:endParaRPr/>
          </a:p>
        </p:txBody>
      </p:sp>
      <p:sp>
        <p:nvSpPr>
          <p:cNvPr id="356" name="Google Shape;356;p34"/>
          <p:cNvSpPr/>
          <p:nvPr/>
        </p:nvSpPr>
        <p:spPr>
          <a:xfrm>
            <a:off x="594360" y="2468880"/>
            <a:ext cx="2157984" cy="14173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704088" y="2651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10.000.000</a:t>
            </a:r>
            <a:endParaRPr/>
          </a:p>
        </p:txBody>
      </p:sp>
      <p:sp>
        <p:nvSpPr>
          <p:cNvPr id="358" name="Google Shape;358;p34"/>
          <p:cNvSpPr txBox="1"/>
          <p:nvPr/>
        </p:nvSpPr>
        <p:spPr>
          <a:xfrm>
            <a:off x="704088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Eventos de origen</a:t>
            </a:r>
            <a:endParaRPr/>
          </a:p>
        </p:txBody>
      </p:sp>
      <p:sp>
        <p:nvSpPr>
          <p:cNvPr id="359" name="Google Shape;359;p34"/>
          <p:cNvSpPr/>
          <p:nvPr/>
        </p:nvSpPr>
        <p:spPr>
          <a:xfrm>
            <a:off x="2907791" y="2468880"/>
            <a:ext cx="2157984" cy="14173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3017520" y="2651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9.993.786</a:t>
            </a:r>
            <a:endParaRPr/>
          </a:p>
        </p:txBody>
      </p:sp>
      <p:sp>
        <p:nvSpPr>
          <p:cNvPr id="361" name="Google Shape;361;p34"/>
          <p:cNvSpPr txBox="1"/>
          <p:nvPr/>
        </p:nvSpPr>
        <p:spPr>
          <a:xfrm>
            <a:off x="301752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Eventos depurados</a:t>
            </a:r>
            <a:endParaRPr/>
          </a:p>
        </p:txBody>
      </p:sp>
      <p:sp>
        <p:nvSpPr>
          <p:cNvPr id="362" name="Google Shape;362;p34"/>
          <p:cNvSpPr/>
          <p:nvPr/>
        </p:nvSpPr>
        <p:spPr>
          <a:xfrm>
            <a:off x="5221224" y="2468880"/>
            <a:ext cx="2157984" cy="14173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5330952" y="2651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5.996.271</a:t>
            </a: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5330952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Histórico</a:t>
            </a:r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7534656" y="2468880"/>
            <a:ext cx="2157984" cy="14173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7644383" y="2651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999.379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7644383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9848088" y="2468880"/>
            <a:ext cx="2157984" cy="14173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9957815" y="2651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2.998.136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9957815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Prueba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822960" y="452628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El histórico construye los índices; validación y prueba evalúan el desempeño sin utilizar información futura.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/>
          <p:nvPr/>
        </p:nvSpPr>
        <p:spPr>
          <a:xfrm>
            <a:off x="-146163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Preparación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70" y="3121535"/>
            <a:ext cx="6872387" cy="32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735147" y="3054400"/>
            <a:ext cx="5840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datos</a:t>
            </a:r>
            <a:endParaRPr b="1" i="0" sz="2400" u="none" cap="none" strike="noStrike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387" name="Google Shape;38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Etapas 0–2: de evento crudo a flujo confiable</a:t>
            </a:r>
            <a:endParaRPr/>
          </a:p>
        </p:txBody>
      </p:sp>
      <p:sp>
        <p:nvSpPr>
          <p:cNvPr id="390" name="Google Shape;390;p36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Ejemplo didáctico: 13 filas → 10 eventos después de limpieza y deduplicación</a:t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731520" y="2423160"/>
            <a:ext cx="3566160" cy="22860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731520" y="2423160"/>
            <a:ext cx="68580" cy="22860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6"/>
          <p:cNvSpPr txBox="1"/>
          <p:nvPr/>
        </p:nvSpPr>
        <p:spPr>
          <a:xfrm>
            <a:off x="960120" y="258775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 · Ingesta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960120" y="3118104"/>
            <a:ext cx="310896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Lectura por bloques; FIFO</a:t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4526280" y="2423160"/>
            <a:ext cx="3566160" cy="22860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4526280" y="2423160"/>
            <a:ext cx="68580" cy="22860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 txBox="1"/>
          <p:nvPr/>
        </p:nvSpPr>
        <p:spPr>
          <a:xfrm>
            <a:off x="4754880" y="258775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1 · Calidad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4754880" y="3118104"/>
            <a:ext cx="310896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Limpieza y deduplicación</a:t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8321040" y="2423160"/>
            <a:ext cx="3566160" cy="22860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8321040" y="2423160"/>
            <a:ext cx="68580" cy="22860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8549640" y="258775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2 · Tiempo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8549640" y="3118104"/>
            <a:ext cx="310896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Ordenamiento y corte temporal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1005840" y="521208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Decisión de diseño: los eventos futuros no participan en el histórico.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7"/>
          <p:cNvSpPr txBox="1"/>
          <p:nvPr/>
        </p:nvSpPr>
        <p:spPr>
          <a:xfrm>
            <a:off x="502920" y="27432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Etapas 0–2: algoritmos y garantías</a:t>
            </a:r>
            <a:endParaRPr/>
          </a:p>
        </p:txBody>
      </p:sp>
      <p:sp>
        <p:nvSpPr>
          <p:cNvPr id="411" name="Google Shape;411;p37"/>
          <p:cNvSpPr txBox="1"/>
          <p:nvPr/>
        </p:nvSpPr>
        <p:spPr>
          <a:xfrm>
            <a:off x="502920" y="8321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La calidad del dato es una condición para evaluar el resto del sistema</a:t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502920" y="1271016"/>
            <a:ext cx="11277295" cy="228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7"/>
          <p:cNvSpPr txBox="1"/>
          <p:nvPr/>
        </p:nvSpPr>
        <p:spPr>
          <a:xfrm>
            <a:off x="12514120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1</a:t>
            </a:r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594360" y="1417320"/>
            <a:ext cx="3529584" cy="361188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594360" y="1417320"/>
            <a:ext cx="68580" cy="361188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768096" y="1536192"/>
            <a:ext cx="32095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0 · FIFO y lectura por bloques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768096" y="2048256"/>
            <a:ext cx="3209544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Se procesan lotes sin cargar toda la fuente a memoria. FIFO conserva el orden de llegada del flujo.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Operación típica de cola: O(1).</a:t>
            </a:r>
            <a:endParaRPr/>
          </a:p>
        </p:txBody>
      </p:sp>
      <p:sp>
        <p:nvSpPr>
          <p:cNvPr id="418" name="Google Shape;418;p37"/>
          <p:cNvSpPr/>
          <p:nvPr/>
        </p:nvSpPr>
        <p:spPr>
          <a:xfrm>
            <a:off x="4325112" y="1417320"/>
            <a:ext cx="3529584" cy="361188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4325112" y="1417320"/>
            <a:ext cx="68580" cy="361188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7"/>
          <p:cNvSpPr txBox="1"/>
          <p:nvPr/>
        </p:nvSpPr>
        <p:spPr>
          <a:xfrm>
            <a:off x="4498848" y="1536192"/>
            <a:ext cx="32095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1 · Hash para deduplicar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4498848" y="2048256"/>
            <a:ext cx="3209544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Una clave de evento identifica registros repetidos; la consulta hash es O(1) promedio.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Se depuraron 9.993.786 de 10 M eventos de origen.</a:t>
            </a:r>
            <a:endParaRPr/>
          </a:p>
        </p:txBody>
      </p:sp>
      <p:sp>
        <p:nvSpPr>
          <p:cNvPr id="422" name="Google Shape;422;p37"/>
          <p:cNvSpPr/>
          <p:nvPr/>
        </p:nvSpPr>
        <p:spPr>
          <a:xfrm>
            <a:off x="8065008" y="1417320"/>
            <a:ext cx="3529584" cy="361188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7"/>
          <p:cNvSpPr/>
          <p:nvPr/>
        </p:nvSpPr>
        <p:spPr>
          <a:xfrm>
            <a:off x="8065008" y="1417320"/>
            <a:ext cx="68580" cy="361188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7"/>
          <p:cNvSpPr txBox="1"/>
          <p:nvPr/>
        </p:nvSpPr>
        <p:spPr>
          <a:xfrm>
            <a:off x="8238744" y="1536192"/>
            <a:ext cx="32095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2 · Merge sort y corte temporal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8238744" y="2048256"/>
            <a:ext cx="3209544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Ordena por tiempo en O(n log n). El histórico construye índices; validación y prueba permanecen posteriores para evitar fuga temporal.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/>
          <p:nvPr/>
        </p:nvSpPr>
        <p:spPr>
          <a:xfrm>
            <a:off x="-146163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8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Estructura 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32" name="Google Shape;4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70" y="3121535"/>
            <a:ext cx="6872387" cy="32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8"/>
          <p:cNvSpPr txBox="1"/>
          <p:nvPr/>
        </p:nvSpPr>
        <p:spPr>
          <a:xfrm>
            <a:off x="735147" y="3054400"/>
            <a:ext cx="5840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 Indexación</a:t>
            </a:r>
            <a:endParaRPr b="1" i="0" sz="2400" u="none" cap="none" strike="noStrike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34" name="Google Shape;43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8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440" name="Google Shape;4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9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Etapas 3–5: cada consulta necesita su estructura</a:t>
            </a:r>
            <a:endParaRPr/>
          </a:p>
        </p:txBody>
      </p:sp>
      <p:sp>
        <p:nvSpPr>
          <p:cNvPr id="443" name="Google Shape;443;p39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No existe una estructura universalmente mejor</a:t>
            </a:r>
            <a:endParaRPr/>
          </a:p>
        </p:txBody>
      </p:sp>
      <p:sp>
        <p:nvSpPr>
          <p:cNvPr id="444" name="Google Shape;444;p39"/>
          <p:cNvSpPr/>
          <p:nvPr/>
        </p:nvSpPr>
        <p:spPr>
          <a:xfrm>
            <a:off x="731520" y="2377440"/>
            <a:ext cx="3566160" cy="246888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731520" y="2377440"/>
            <a:ext cx="68580" cy="246888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9"/>
          <p:cNvSpPr txBox="1"/>
          <p:nvPr/>
        </p:nvSpPr>
        <p:spPr>
          <a:xfrm>
            <a:off x="960120" y="254203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Hash + LRU</a:t>
            </a:r>
            <a:endParaRPr/>
          </a:p>
        </p:txBody>
      </p:sp>
      <p:sp>
        <p:nvSpPr>
          <p:cNvPr id="447" name="Google Shape;447;p39"/>
          <p:cNvSpPr txBox="1"/>
          <p:nvPr/>
        </p:nvSpPr>
        <p:spPr>
          <a:xfrm>
            <a:off x="960120" y="3072384"/>
            <a:ext cx="3108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Acceso por clave y reutilización de consultas frecuentes</a:t>
            </a:r>
            <a:endParaRPr/>
          </a:p>
        </p:txBody>
      </p:sp>
      <p:sp>
        <p:nvSpPr>
          <p:cNvPr id="448" name="Google Shape;448;p39"/>
          <p:cNvSpPr/>
          <p:nvPr/>
        </p:nvSpPr>
        <p:spPr>
          <a:xfrm>
            <a:off x="4526280" y="2377440"/>
            <a:ext cx="3566160" cy="246888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9"/>
          <p:cNvSpPr/>
          <p:nvPr/>
        </p:nvSpPr>
        <p:spPr>
          <a:xfrm>
            <a:off x="4526280" y="2377440"/>
            <a:ext cx="68580" cy="246888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9"/>
          <p:cNvSpPr txBox="1"/>
          <p:nvPr/>
        </p:nvSpPr>
        <p:spPr>
          <a:xfrm>
            <a:off x="4754880" y="254203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Matriz dispersa + vectores</a:t>
            </a:r>
            <a:endParaRPr/>
          </a:p>
        </p:txBody>
      </p:sp>
      <p:sp>
        <p:nvSpPr>
          <p:cNvPr id="451" name="Google Shape;451;p39"/>
          <p:cNvSpPr txBox="1"/>
          <p:nvPr/>
        </p:nvSpPr>
        <p:spPr>
          <a:xfrm>
            <a:off x="4754880" y="3072384"/>
            <a:ext cx="3108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Representar interacciones sin almacenar todos los ceros</a:t>
            </a:r>
            <a:endParaRPr/>
          </a:p>
        </p:txBody>
      </p:sp>
      <p:sp>
        <p:nvSpPr>
          <p:cNvPr id="452" name="Google Shape;452;p39"/>
          <p:cNvSpPr/>
          <p:nvPr/>
        </p:nvSpPr>
        <p:spPr>
          <a:xfrm>
            <a:off x="8321040" y="2377440"/>
            <a:ext cx="3566160" cy="246888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8321040" y="2377440"/>
            <a:ext cx="68580" cy="246888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8549640" y="254203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B+Tree</a:t>
            </a:r>
            <a:endParaRPr/>
          </a:p>
        </p:txBody>
      </p:sp>
      <p:sp>
        <p:nvSpPr>
          <p:cNvPr id="455" name="Google Shape;455;p39"/>
          <p:cNvSpPr txBox="1"/>
          <p:nvPr/>
        </p:nvSpPr>
        <p:spPr>
          <a:xfrm>
            <a:off x="8549640" y="3072384"/>
            <a:ext cx="3108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Consultas por rango sobre índice persistente</a:t>
            </a:r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868680" y="53949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Compromiso: latencia de consulta, costo de construcción, memoria y persistencia.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1235534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 txBox="1"/>
          <p:nvPr/>
        </p:nvSpPr>
        <p:spPr>
          <a:xfrm>
            <a:off x="502920" y="27432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Etapas 3–5: cómo se consultan los datos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502920" y="8321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Índices y representaciones elegidos según el patrón de acceso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502920" y="1271016"/>
            <a:ext cx="11277295" cy="228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0"/>
          <p:cNvSpPr txBox="1"/>
          <p:nvPr/>
        </p:nvSpPr>
        <p:spPr>
          <a:xfrm>
            <a:off x="1235534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2</a:t>
            </a:r>
            <a:endParaRPr/>
          </a:p>
        </p:txBody>
      </p:sp>
      <p:sp>
        <p:nvSpPr>
          <p:cNvPr id="468" name="Google Shape;468;p40"/>
          <p:cNvSpPr/>
          <p:nvPr/>
        </p:nvSpPr>
        <p:spPr>
          <a:xfrm>
            <a:off x="548640" y="1417320"/>
            <a:ext cx="3566160" cy="361188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0"/>
          <p:cNvSpPr/>
          <p:nvPr/>
        </p:nvSpPr>
        <p:spPr>
          <a:xfrm>
            <a:off x="548640" y="1417320"/>
            <a:ext cx="68580" cy="361188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0"/>
          <p:cNvSpPr txBox="1"/>
          <p:nvPr/>
        </p:nvSpPr>
        <p:spPr>
          <a:xfrm>
            <a:off x="722376" y="153619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3 · Hash + matriz dispersa</a:t>
            </a:r>
            <a:endParaRPr/>
          </a:p>
        </p:txBody>
      </p:sp>
      <p:sp>
        <p:nvSpPr>
          <p:cNvPr id="471" name="Google Shape;471;p40"/>
          <p:cNvSpPr txBox="1"/>
          <p:nvPr/>
        </p:nvSpPr>
        <p:spPr>
          <a:xfrm>
            <a:off x="722376" y="2048256"/>
            <a:ext cx="32461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Hash localiza claves en O(1) promedio; una matriz dispersa conserva solo interacciones observadas, reduciendo memoria cuando predominan ceros.</a:t>
            </a:r>
            <a:endParaRPr/>
          </a:p>
        </p:txBody>
      </p:sp>
      <p:sp>
        <p:nvSpPr>
          <p:cNvPr id="472" name="Google Shape;472;p40"/>
          <p:cNvSpPr/>
          <p:nvPr/>
        </p:nvSpPr>
        <p:spPr>
          <a:xfrm>
            <a:off x="4325112" y="1417320"/>
            <a:ext cx="3566160" cy="361188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4325112" y="1417320"/>
            <a:ext cx="68580" cy="361188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0"/>
          <p:cNvSpPr txBox="1"/>
          <p:nvPr/>
        </p:nvSpPr>
        <p:spPr>
          <a:xfrm>
            <a:off x="4498848" y="153619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4 · LRU + B+Tree</a:t>
            </a:r>
            <a:endParaRPr/>
          </a:p>
        </p:txBody>
      </p:sp>
      <p:sp>
        <p:nvSpPr>
          <p:cNvPr id="475" name="Google Shape;475;p40"/>
          <p:cNvSpPr txBox="1"/>
          <p:nvPr/>
        </p:nvSpPr>
        <p:spPr>
          <a:xfrm>
            <a:off x="4498848" y="2048256"/>
            <a:ext cx="32461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LRU retiene accesos recientes; hash + lista doblemente enlazada permiten O(1) promedio. B+Tree organiza claves ordenadas para rangos persistentes.</a:t>
            </a:r>
            <a:endParaRPr/>
          </a:p>
        </p:txBody>
      </p:sp>
      <p:sp>
        <p:nvSpPr>
          <p:cNvPr id="476" name="Google Shape;476;p40"/>
          <p:cNvSpPr/>
          <p:nvPr/>
        </p:nvSpPr>
        <p:spPr>
          <a:xfrm>
            <a:off x="8101583" y="1417320"/>
            <a:ext cx="3566160" cy="361188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0"/>
          <p:cNvSpPr/>
          <p:nvPr/>
        </p:nvSpPr>
        <p:spPr>
          <a:xfrm>
            <a:off x="8101583" y="1417320"/>
            <a:ext cx="68580" cy="361188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"/>
          <p:cNvSpPr txBox="1"/>
          <p:nvPr/>
        </p:nvSpPr>
        <p:spPr>
          <a:xfrm>
            <a:off x="8275319" y="153619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5 · Vectores e índices</a:t>
            </a:r>
            <a:endParaRPr/>
          </a:p>
        </p:txBody>
      </p:sp>
      <p:sp>
        <p:nvSpPr>
          <p:cNvPr id="479" name="Google Shape;479;p40"/>
          <p:cNvSpPr txBox="1"/>
          <p:nvPr/>
        </p:nvSpPr>
        <p:spPr>
          <a:xfrm>
            <a:off x="8275319" y="2048256"/>
            <a:ext cx="32461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Representaciones vectoriales habilitan comparación de productos. Los índices aceleran consultas repetidas; construcción y consulta se miden por separado.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484" name="Google Shape;48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1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1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B+Tree: persistencia y búsquedas por rango</a:t>
            </a:r>
            <a:endParaRPr/>
          </a:p>
        </p:txBody>
      </p:sp>
      <p:sp>
        <p:nvSpPr>
          <p:cNvPr id="487" name="Google Shape;487;p41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Benchmark con 121.903 productos; índice estático, altura 3</a:t>
            </a:r>
            <a:endParaRPr/>
          </a:p>
        </p:txBody>
      </p:sp>
      <p:sp>
        <p:nvSpPr>
          <p:cNvPr id="488" name="Google Shape;488;p41"/>
          <p:cNvSpPr/>
          <p:nvPr/>
        </p:nvSpPr>
        <p:spPr>
          <a:xfrm>
            <a:off x="9784080" y="6291072"/>
            <a:ext cx="1691640" cy="310896"/>
          </a:xfrm>
          <a:prstGeom prst="roundRect">
            <a:avLst>
              <a:gd fmla="val 16667" name="adj"/>
            </a:avLst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1"/>
          <p:cNvSpPr txBox="1"/>
          <p:nvPr/>
        </p:nvSpPr>
        <p:spPr>
          <a:xfrm>
            <a:off x="9921240" y="630021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INTEGRANTE 2</a:t>
            </a:r>
            <a:endParaRPr/>
          </a:p>
        </p:txBody>
      </p:sp>
      <p:pic>
        <p:nvPicPr>
          <p:cNvPr id="490" name="Google Shape;49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423160"/>
            <a:ext cx="704088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1"/>
          <p:cNvSpPr/>
          <p:nvPr/>
        </p:nvSpPr>
        <p:spPr>
          <a:xfrm>
            <a:off x="8092440" y="2468880"/>
            <a:ext cx="3337560" cy="32461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8092440" y="2468880"/>
            <a:ext cx="68580" cy="324612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1"/>
          <p:cNvSpPr txBox="1"/>
          <p:nvPr/>
        </p:nvSpPr>
        <p:spPr>
          <a:xfrm>
            <a:off x="8321040" y="2633472"/>
            <a:ext cx="2898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Interpretación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8321040" y="3163824"/>
            <a:ext cx="2880360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B+Tree gana al escaneo a mayor escala, pero no a la búsqueda binaria en RAM.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567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Su aporte diferencial es la persistencia y la consulta por rangos.</a:t>
            </a:r>
            <a:endParaRPr/>
          </a:p>
        </p:txBody>
      </p:sp>
      <p:sp>
        <p:nvSpPr>
          <p:cNvPr id="495" name="Google Shape;495;p41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/>
          <p:nvPr/>
        </p:nvSpPr>
        <p:spPr>
          <a:xfrm>
            <a:off x="-146163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2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Detección 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02" name="Google Shape;5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70" y="3121535"/>
            <a:ext cx="6872387" cy="32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2"/>
          <p:cNvSpPr txBox="1"/>
          <p:nvPr/>
        </p:nvSpPr>
        <p:spPr>
          <a:xfrm>
            <a:off x="735147" y="3054400"/>
            <a:ext cx="5840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y Recomendación</a:t>
            </a:r>
            <a:endParaRPr b="1" i="0" sz="2400" u="none" cap="none" strike="noStrike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04" name="Google Shape;50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2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510" name="Google Shape;51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3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3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Etapa 6: señales probabilísticas</a:t>
            </a:r>
            <a:endParaRPr/>
          </a:p>
        </p:txBody>
      </p:sp>
      <p:sp>
        <p:nvSpPr>
          <p:cNvPr id="513" name="Google Shape;513;p43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Bloom Filter y Count-Min Sketch: filtrar y estimar, no confirmar fraude</a:t>
            </a:r>
            <a:endParaRPr/>
          </a:p>
        </p:txBody>
      </p:sp>
      <p:sp>
        <p:nvSpPr>
          <p:cNvPr id="514" name="Google Shape;514;p43"/>
          <p:cNvSpPr/>
          <p:nvPr/>
        </p:nvSpPr>
        <p:spPr>
          <a:xfrm>
            <a:off x="777240" y="2331720"/>
            <a:ext cx="5166360" cy="29718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777240" y="2331720"/>
            <a:ext cx="68580" cy="29718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3"/>
          <p:cNvSpPr txBox="1"/>
          <p:nvPr/>
        </p:nvSpPr>
        <p:spPr>
          <a:xfrm>
            <a:off x="1005840" y="2496312"/>
            <a:ext cx="4727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Bloom Filter</a:t>
            </a:r>
            <a:endParaRPr/>
          </a:p>
        </p:txBody>
      </p:sp>
      <p:sp>
        <p:nvSpPr>
          <p:cNvPr id="517" name="Google Shape;517;p43"/>
          <p:cNvSpPr txBox="1"/>
          <p:nvPr/>
        </p:nvSpPr>
        <p:spPr>
          <a:xfrm>
            <a:off x="1005840" y="3026663"/>
            <a:ext cx="470916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Responde «posiblemente presente» o «definitivamente ausente».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Puede producir falsos positivos.</a:t>
            </a:r>
            <a:endParaRPr/>
          </a:p>
        </p:txBody>
      </p:sp>
      <p:sp>
        <p:nvSpPr>
          <p:cNvPr id="518" name="Google Shape;518;p43"/>
          <p:cNvSpPr/>
          <p:nvPr/>
        </p:nvSpPr>
        <p:spPr>
          <a:xfrm>
            <a:off x="6172200" y="2331720"/>
            <a:ext cx="5166360" cy="29718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6172200" y="2331720"/>
            <a:ext cx="68580" cy="29718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3"/>
          <p:cNvSpPr txBox="1"/>
          <p:nvPr/>
        </p:nvSpPr>
        <p:spPr>
          <a:xfrm>
            <a:off x="6400800" y="2496312"/>
            <a:ext cx="4727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Count-Min Sketch</a:t>
            </a:r>
            <a:endParaRPr/>
          </a:p>
        </p:txBody>
      </p:sp>
      <p:sp>
        <p:nvSpPr>
          <p:cNvPr id="521" name="Google Shape;521;p43"/>
          <p:cNvSpPr txBox="1"/>
          <p:nvPr/>
        </p:nvSpPr>
        <p:spPr>
          <a:xfrm>
            <a:off x="6400800" y="3026663"/>
            <a:ext cx="470916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Estima frecuencias con memoria compacta.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Puede sobreestimar por colisiones.</a:t>
            </a:r>
            <a:endParaRPr/>
          </a:p>
        </p:txBody>
      </p:sp>
      <p:sp>
        <p:nvSpPr>
          <p:cNvPr id="522" name="Google Shape;522;p43"/>
          <p:cNvSpPr txBox="1"/>
          <p:nvPr/>
        </p:nvSpPr>
        <p:spPr>
          <a:xfrm>
            <a:off x="868680" y="5715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Alcance: no se presentan tasas de error medidas para estos dos módulos.</a:t>
            </a:r>
            <a:endParaRPr/>
          </a:p>
        </p:txBody>
      </p:sp>
      <p:sp>
        <p:nvSpPr>
          <p:cNvPr id="523" name="Google Shape;523;p43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24" name="Google Shape;524;p43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4"/>
          <p:cNvSpPr txBox="1"/>
          <p:nvPr/>
        </p:nvSpPr>
        <p:spPr>
          <a:xfrm>
            <a:off x="502920" y="27432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Etapas 6–7: cómo funcionan los aproximados</a:t>
            </a:r>
            <a:endParaRPr/>
          </a:p>
        </p:txBody>
      </p:sp>
      <p:sp>
        <p:nvSpPr>
          <p:cNvPr id="531" name="Google Shape;531;p44"/>
          <p:cNvSpPr txBox="1"/>
          <p:nvPr/>
        </p:nvSpPr>
        <p:spPr>
          <a:xfrm>
            <a:off x="502920" y="8321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Ahorro de memoria y latencia a cambio de errores controlados</a:t>
            </a:r>
            <a:endParaRPr/>
          </a:p>
        </p:txBody>
      </p:sp>
      <p:sp>
        <p:nvSpPr>
          <p:cNvPr id="532" name="Google Shape;532;p44"/>
          <p:cNvSpPr/>
          <p:nvPr/>
        </p:nvSpPr>
        <p:spPr>
          <a:xfrm>
            <a:off x="502920" y="1271016"/>
            <a:ext cx="11277295" cy="228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4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  <p:sp>
        <p:nvSpPr>
          <p:cNvPr id="534" name="Google Shape;534;p44"/>
          <p:cNvSpPr/>
          <p:nvPr/>
        </p:nvSpPr>
        <p:spPr>
          <a:xfrm>
            <a:off x="548640" y="1399032"/>
            <a:ext cx="3566160" cy="3913632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4"/>
          <p:cNvSpPr/>
          <p:nvPr/>
        </p:nvSpPr>
        <p:spPr>
          <a:xfrm>
            <a:off x="548640" y="1399032"/>
            <a:ext cx="68580" cy="391363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4"/>
          <p:cNvSpPr txBox="1"/>
          <p:nvPr/>
        </p:nvSpPr>
        <p:spPr>
          <a:xfrm>
            <a:off x="722376" y="151790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6 · Bloom + Count-Min Sketch</a:t>
            </a:r>
            <a:endParaRPr/>
          </a:p>
        </p:txBody>
      </p:sp>
      <p:sp>
        <p:nvSpPr>
          <p:cNvPr id="537" name="Google Shape;537;p44"/>
          <p:cNvSpPr txBox="1"/>
          <p:nvPr/>
        </p:nvSpPr>
        <p:spPr>
          <a:xfrm>
            <a:off x="722376" y="2029967"/>
            <a:ext cx="3246120" cy="318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Bloom usa varios hashes sobre bits: ausencia segura o presencia probable; puede dar falsos positivos.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CMS usa contadores hash: frecuencia estimada con posibles sobreestimaciones.</a:t>
            </a:r>
            <a:endParaRPr/>
          </a:p>
        </p:txBody>
      </p:sp>
      <p:sp>
        <p:nvSpPr>
          <p:cNvPr id="538" name="Google Shape;538;p44"/>
          <p:cNvSpPr/>
          <p:nvPr/>
        </p:nvSpPr>
        <p:spPr>
          <a:xfrm>
            <a:off x="4325112" y="1399032"/>
            <a:ext cx="3566160" cy="3913632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4"/>
          <p:cNvSpPr/>
          <p:nvPr/>
        </p:nvSpPr>
        <p:spPr>
          <a:xfrm>
            <a:off x="4325112" y="1399032"/>
            <a:ext cx="68580" cy="391363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4"/>
          <p:cNvSpPr txBox="1"/>
          <p:nvPr/>
        </p:nvSpPr>
        <p:spPr>
          <a:xfrm>
            <a:off x="4498848" y="151790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7 · MinHash + LSH</a:t>
            </a:r>
            <a:endParaRPr/>
          </a:p>
        </p:txBody>
      </p:sp>
      <p:sp>
        <p:nvSpPr>
          <p:cNvPr id="541" name="Google Shape;541;p44"/>
          <p:cNvSpPr txBox="1"/>
          <p:nvPr/>
        </p:nvSpPr>
        <p:spPr>
          <a:xfrm>
            <a:off x="4498848" y="2029967"/>
            <a:ext cx="3246120" cy="318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MinHash aproxima similitud Jaccard mediante firmas. LSH agrupa firmas en bandas para recuperar candidatos similares sin comparar todos los pares.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64 bandas: recall 99 %, 80,75 candidatos medios.</a:t>
            </a:r>
            <a:endParaRPr/>
          </a:p>
        </p:txBody>
      </p:sp>
      <p:sp>
        <p:nvSpPr>
          <p:cNvPr id="542" name="Google Shape;542;p44"/>
          <p:cNvSpPr/>
          <p:nvPr/>
        </p:nvSpPr>
        <p:spPr>
          <a:xfrm>
            <a:off x="8101583" y="1399032"/>
            <a:ext cx="3566160" cy="3913632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4"/>
          <p:cNvSpPr/>
          <p:nvPr/>
        </p:nvSpPr>
        <p:spPr>
          <a:xfrm>
            <a:off x="8101583" y="1399032"/>
            <a:ext cx="68580" cy="391363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4"/>
          <p:cNvSpPr txBox="1"/>
          <p:nvPr/>
        </p:nvSpPr>
        <p:spPr>
          <a:xfrm>
            <a:off x="8275319" y="151790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7 · HNSW + Top-K</a:t>
            </a:r>
            <a:endParaRPr/>
          </a:p>
        </p:txBody>
      </p:sp>
      <p:sp>
        <p:nvSpPr>
          <p:cNvPr id="545" name="Google Shape;545;p44"/>
          <p:cNvSpPr txBox="1"/>
          <p:nvPr/>
        </p:nvSpPr>
        <p:spPr>
          <a:xfrm>
            <a:off x="8275319" y="2029967"/>
            <a:ext cx="3246120" cy="318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HNSW recorre un grafo jerárquico de vecinos próximos; evita evaluar exhaustivamente todos los vectores.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Recall@5 89,33 %; 0,407 ms frente a 2,335 ms exacto.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550" name="Google Shape;55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5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5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Etapa 7: MinHash + LSH</a:t>
            </a:r>
            <a:endParaRPr/>
          </a:p>
        </p:txBody>
      </p:sp>
      <p:sp>
        <p:nvSpPr>
          <p:cNvPr id="553" name="Google Shape;553;p45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Recuperación aproximada: más candidatos no siempre significa mejor eficiencia</a:t>
            </a:r>
            <a:endParaRPr/>
          </a:p>
        </p:txBody>
      </p:sp>
      <p:pic>
        <p:nvPicPr>
          <p:cNvPr id="554" name="Google Shape;55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286000"/>
            <a:ext cx="699516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5"/>
          <p:cNvSpPr/>
          <p:nvPr/>
        </p:nvSpPr>
        <p:spPr>
          <a:xfrm>
            <a:off x="8092440" y="2395728"/>
            <a:ext cx="3337560" cy="34290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5"/>
          <p:cNvSpPr/>
          <p:nvPr/>
        </p:nvSpPr>
        <p:spPr>
          <a:xfrm>
            <a:off x="8092440" y="2395728"/>
            <a:ext cx="68580" cy="34290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5"/>
          <p:cNvSpPr txBox="1"/>
          <p:nvPr/>
        </p:nvSpPr>
        <p:spPr>
          <a:xfrm>
            <a:off x="8321040" y="2560320"/>
            <a:ext cx="2898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Qué demuestra</a:t>
            </a:r>
            <a:endParaRPr/>
          </a:p>
        </p:txBody>
      </p:sp>
      <p:sp>
        <p:nvSpPr>
          <p:cNvPr id="558" name="Google Shape;558;p45"/>
          <p:cNvSpPr txBox="1"/>
          <p:nvPr/>
        </p:nvSpPr>
        <p:spPr>
          <a:xfrm>
            <a:off x="8321040" y="2874104"/>
            <a:ext cx="2880300" cy="29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64 bandas recuperan 99 % de vecinos de referencia en esta prueba.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567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El costo es ampliar la lista media de candidatos hasta 80,75.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567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20 consultas; 64 permutaciones.</a:t>
            </a:r>
            <a:endParaRPr/>
          </a:p>
        </p:txBody>
      </p:sp>
      <p:sp>
        <p:nvSpPr>
          <p:cNvPr id="559" name="Google Shape;559;p45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560" name="Google Shape;560;p45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565" name="Google Shape;5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6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6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HNSW: velocidad a cambio de exactitud</a:t>
            </a:r>
            <a:endParaRPr/>
          </a:p>
        </p:txBody>
      </p:sp>
      <p:sp>
        <p:nvSpPr>
          <p:cNvPr id="568" name="Google Shape;568;p46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30 consultas · 20.000 productos · k = 5</a:t>
            </a:r>
            <a:endParaRPr/>
          </a:p>
        </p:txBody>
      </p:sp>
      <p:sp>
        <p:nvSpPr>
          <p:cNvPr id="569" name="Google Shape;569;p46"/>
          <p:cNvSpPr/>
          <p:nvPr/>
        </p:nvSpPr>
        <p:spPr>
          <a:xfrm>
            <a:off x="822960" y="2377440"/>
            <a:ext cx="3429000" cy="242316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6"/>
          <p:cNvSpPr/>
          <p:nvPr/>
        </p:nvSpPr>
        <p:spPr>
          <a:xfrm>
            <a:off x="822960" y="2377440"/>
            <a:ext cx="68580" cy="242316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6"/>
          <p:cNvSpPr txBox="1"/>
          <p:nvPr/>
        </p:nvSpPr>
        <p:spPr>
          <a:xfrm>
            <a:off x="1051560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HNSW</a:t>
            </a:r>
            <a:endParaRPr/>
          </a:p>
        </p:txBody>
      </p:sp>
      <p:sp>
        <p:nvSpPr>
          <p:cNvPr id="572" name="Google Shape;572;p46"/>
          <p:cNvSpPr txBox="1"/>
          <p:nvPr/>
        </p:nvSpPr>
        <p:spPr>
          <a:xfrm>
            <a:off x="1051560" y="3072384"/>
            <a:ext cx="2971800" cy="1664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0,407 ms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Latencia media</a:t>
            </a:r>
            <a:endParaRPr/>
          </a:p>
        </p:txBody>
      </p:sp>
      <p:sp>
        <p:nvSpPr>
          <p:cNvPr id="573" name="Google Shape;573;p46"/>
          <p:cNvSpPr/>
          <p:nvPr/>
        </p:nvSpPr>
        <p:spPr>
          <a:xfrm>
            <a:off x="4407408" y="2377440"/>
            <a:ext cx="3429000" cy="242316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4407408" y="2377440"/>
            <a:ext cx="68580" cy="242316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6"/>
          <p:cNvSpPr txBox="1"/>
          <p:nvPr/>
        </p:nvSpPr>
        <p:spPr>
          <a:xfrm>
            <a:off x="4636008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KNN exacto</a:t>
            </a:r>
            <a:endParaRPr/>
          </a:p>
        </p:txBody>
      </p:sp>
      <p:sp>
        <p:nvSpPr>
          <p:cNvPr id="576" name="Google Shape;576;p46"/>
          <p:cNvSpPr txBox="1"/>
          <p:nvPr/>
        </p:nvSpPr>
        <p:spPr>
          <a:xfrm>
            <a:off x="4636008" y="3072384"/>
            <a:ext cx="2971800" cy="1664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2,335 ms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Latencia media</a:t>
            </a:r>
            <a:endParaRPr/>
          </a:p>
        </p:txBody>
      </p:sp>
      <p:sp>
        <p:nvSpPr>
          <p:cNvPr id="577" name="Google Shape;577;p46"/>
          <p:cNvSpPr/>
          <p:nvPr/>
        </p:nvSpPr>
        <p:spPr>
          <a:xfrm>
            <a:off x="8001000" y="2377440"/>
            <a:ext cx="3429000" cy="242316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6"/>
          <p:cNvSpPr/>
          <p:nvPr/>
        </p:nvSpPr>
        <p:spPr>
          <a:xfrm>
            <a:off x="8001000" y="2377440"/>
            <a:ext cx="68580" cy="242316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6"/>
          <p:cNvSpPr txBox="1"/>
          <p:nvPr/>
        </p:nvSpPr>
        <p:spPr>
          <a:xfrm>
            <a:off x="8229600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Recall@5</a:t>
            </a:r>
            <a:endParaRPr/>
          </a:p>
        </p:txBody>
      </p:sp>
      <p:sp>
        <p:nvSpPr>
          <p:cNvPr id="580" name="Google Shape;580;p46"/>
          <p:cNvSpPr txBox="1"/>
          <p:nvPr/>
        </p:nvSpPr>
        <p:spPr>
          <a:xfrm>
            <a:off x="8229600" y="3072384"/>
            <a:ext cx="2971800" cy="1664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89,33 %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Vecinos recuperados</a:t>
            </a:r>
            <a:endParaRPr/>
          </a:p>
        </p:txBody>
      </p:sp>
      <p:sp>
        <p:nvSpPr>
          <p:cNvPr id="581" name="Google Shape;581;p46"/>
          <p:cNvSpPr txBox="1"/>
          <p:nvPr/>
        </p:nvSpPr>
        <p:spPr>
          <a:xfrm>
            <a:off x="1097280" y="521208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≈ 5,7 veces más rápido; no equivale a 100 % de recuperación.</a:t>
            </a:r>
            <a:endParaRPr/>
          </a:p>
        </p:txBody>
      </p:sp>
      <p:sp>
        <p:nvSpPr>
          <p:cNvPr id="582" name="Google Shape;582;p46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583" name="Google Shape;583;p46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588" name="Google Shape;58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7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7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¿Qué recomendador funciona mejor?</a:t>
            </a:r>
            <a:endParaRPr/>
          </a:p>
        </p:txBody>
      </p:sp>
      <p:sp>
        <p:nvSpPr>
          <p:cNvPr id="591" name="Google Shape;591;p47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Prueba con 300 sesiones · HitRate@5 (%)</a:t>
            </a:r>
            <a:endParaRPr/>
          </a:p>
        </p:txBody>
      </p:sp>
      <p:pic>
        <p:nvPicPr>
          <p:cNvPr id="592" name="Google Shape;59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331720"/>
            <a:ext cx="699516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7"/>
          <p:cNvSpPr/>
          <p:nvPr/>
        </p:nvSpPr>
        <p:spPr>
          <a:xfrm>
            <a:off x="8065008" y="2423160"/>
            <a:ext cx="3291840" cy="333756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7"/>
          <p:cNvSpPr/>
          <p:nvPr/>
        </p:nvSpPr>
        <p:spPr>
          <a:xfrm>
            <a:off x="8065008" y="2423160"/>
            <a:ext cx="68580" cy="333756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7"/>
          <p:cNvSpPr txBox="1"/>
          <p:nvPr/>
        </p:nvSpPr>
        <p:spPr>
          <a:xfrm>
            <a:off x="8293608" y="2587752"/>
            <a:ext cx="2852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Hallazgo</a:t>
            </a:r>
            <a:endParaRPr/>
          </a:p>
        </p:txBody>
      </p:sp>
      <p:sp>
        <p:nvSpPr>
          <p:cNvPr id="596" name="Google Shape;596;p47"/>
          <p:cNvSpPr txBox="1"/>
          <p:nvPr/>
        </p:nvSpPr>
        <p:spPr>
          <a:xfrm>
            <a:off x="8293608" y="3118104"/>
            <a:ext cx="2834640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El grafo de sesión logra el mayor HitRate@5 en este conjunto.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567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La combinación híbrida no supera automáticamente al método más simple.</a:t>
            </a:r>
            <a:endParaRPr/>
          </a:p>
        </p:txBody>
      </p:sp>
      <p:sp>
        <p:nvSpPr>
          <p:cNvPr id="597" name="Google Shape;597;p47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98" name="Google Shape;598;p47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"/>
          <p:cNvSpPr/>
          <p:nvPr/>
        </p:nvSpPr>
        <p:spPr>
          <a:xfrm>
            <a:off x="-146163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8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Análisis 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05" name="Google Shape;60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70" y="3121535"/>
            <a:ext cx="6872387" cy="32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8"/>
          <p:cNvSpPr txBox="1"/>
          <p:nvPr/>
        </p:nvSpPr>
        <p:spPr>
          <a:xfrm>
            <a:off x="735147" y="3054400"/>
            <a:ext cx="58407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Relaciones</a:t>
            </a:r>
            <a:endParaRPr b="1" i="0" sz="2400" u="none" cap="none" strike="noStrike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07" name="Google Shape;60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8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613" name="Google Shape;61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9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9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Etapa 8: del evento purchase al grafo</a:t>
            </a:r>
            <a:endParaRPr/>
          </a:p>
        </p:txBody>
      </p:sp>
      <p:sp>
        <p:nvSpPr>
          <p:cNvPr id="616" name="Google Shape;616;p49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La compra conecta productos y permite analizar relaciones</a:t>
            </a:r>
            <a:endParaRPr/>
          </a:p>
        </p:txBody>
      </p:sp>
      <p:sp>
        <p:nvSpPr>
          <p:cNvPr id="617" name="Google Shape;617;p49"/>
          <p:cNvSpPr/>
          <p:nvPr/>
        </p:nvSpPr>
        <p:spPr>
          <a:xfrm>
            <a:off x="777240" y="2377440"/>
            <a:ext cx="3429000" cy="27889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9"/>
          <p:cNvSpPr/>
          <p:nvPr/>
        </p:nvSpPr>
        <p:spPr>
          <a:xfrm>
            <a:off x="777240" y="2377440"/>
            <a:ext cx="68580" cy="278892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9"/>
          <p:cNvSpPr txBox="1"/>
          <p:nvPr/>
        </p:nvSpPr>
        <p:spPr>
          <a:xfrm>
            <a:off x="1005840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Co-compra</a:t>
            </a:r>
            <a:endParaRPr/>
          </a:p>
        </p:txBody>
      </p:sp>
      <p:sp>
        <p:nvSpPr>
          <p:cNvPr id="620" name="Google Shape;620;p49"/>
          <p:cNvSpPr txBox="1"/>
          <p:nvPr/>
        </p:nvSpPr>
        <p:spPr>
          <a:xfrm>
            <a:off x="1005840" y="3072384"/>
            <a:ext cx="2971800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Nodos: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Aristas: compras relacionadas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Peso: fuerza de asociación</a:t>
            </a:r>
            <a:endParaRPr/>
          </a:p>
        </p:txBody>
      </p:sp>
      <p:sp>
        <p:nvSpPr>
          <p:cNvPr id="621" name="Google Shape;621;p49"/>
          <p:cNvSpPr/>
          <p:nvPr/>
        </p:nvSpPr>
        <p:spPr>
          <a:xfrm>
            <a:off x="4407408" y="2377440"/>
            <a:ext cx="3429000" cy="27889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4407408" y="2377440"/>
            <a:ext cx="68580" cy="278892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9"/>
          <p:cNvSpPr txBox="1"/>
          <p:nvPr/>
        </p:nvSpPr>
        <p:spPr>
          <a:xfrm>
            <a:off x="4636008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PageRank</a:t>
            </a:r>
            <a:endParaRPr/>
          </a:p>
        </p:txBody>
      </p:sp>
      <p:sp>
        <p:nvSpPr>
          <p:cNvPr id="624" name="Google Shape;624;p49"/>
          <p:cNvSpPr txBox="1"/>
          <p:nvPr/>
        </p:nvSpPr>
        <p:spPr>
          <a:xfrm>
            <a:off x="4636008" y="3072384"/>
            <a:ext cx="2971800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Prioriza nodos por su posición en la red.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Solapamiento top-10 con grado: 0,90</a:t>
            </a:r>
            <a:endParaRPr/>
          </a:p>
        </p:txBody>
      </p:sp>
      <p:sp>
        <p:nvSpPr>
          <p:cNvPr id="625" name="Google Shape;625;p49"/>
          <p:cNvSpPr/>
          <p:nvPr/>
        </p:nvSpPr>
        <p:spPr>
          <a:xfrm>
            <a:off x="8001000" y="2377440"/>
            <a:ext cx="3429000" cy="278892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8001000" y="2377440"/>
            <a:ext cx="68580" cy="278892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9"/>
          <p:cNvSpPr txBox="1"/>
          <p:nvPr/>
        </p:nvSpPr>
        <p:spPr>
          <a:xfrm>
            <a:off x="8229600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Louvain</a:t>
            </a:r>
            <a:endParaRPr/>
          </a:p>
        </p:txBody>
      </p:sp>
      <p:sp>
        <p:nvSpPr>
          <p:cNvPr id="628" name="Google Shape;628;p49"/>
          <p:cNvSpPr txBox="1"/>
          <p:nvPr/>
        </p:nvSpPr>
        <p:spPr>
          <a:xfrm>
            <a:off x="8229600" y="3072384"/>
            <a:ext cx="2971800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Detecta comunidades optimizando modularidad.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No implica segmentos comerciales validados.</a:t>
            </a:r>
            <a:endParaRPr/>
          </a:p>
        </p:txBody>
      </p:sp>
      <p:sp>
        <p:nvSpPr>
          <p:cNvPr id="629" name="Google Shape;629;p49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630" name="Google Shape;630;p49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</a:t>
            </a:r>
            <a:r>
              <a:rPr b="1" lang="en-US" sz="1100">
                <a:solidFill>
                  <a:srgbClr val="566C79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0"/>
          <p:cNvSpPr txBox="1"/>
          <p:nvPr/>
        </p:nvSpPr>
        <p:spPr>
          <a:xfrm>
            <a:off x="502920" y="27432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Etapas 8–9: de compras a resultados</a:t>
            </a:r>
            <a:endParaRPr/>
          </a:p>
        </p:txBody>
      </p:sp>
      <p:sp>
        <p:nvSpPr>
          <p:cNvPr id="637" name="Google Shape;637;p50"/>
          <p:cNvSpPr txBox="1"/>
          <p:nvPr/>
        </p:nvSpPr>
        <p:spPr>
          <a:xfrm>
            <a:off x="502920" y="8321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Las relaciones complementan la similitud y se evalúan con métricas propias</a:t>
            </a:r>
            <a:endParaRPr/>
          </a:p>
        </p:txBody>
      </p:sp>
      <p:sp>
        <p:nvSpPr>
          <p:cNvPr id="638" name="Google Shape;638;p50"/>
          <p:cNvSpPr/>
          <p:nvPr/>
        </p:nvSpPr>
        <p:spPr>
          <a:xfrm>
            <a:off x="502920" y="1271016"/>
            <a:ext cx="11277295" cy="228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50"/>
          <p:cNvSpPr txBox="1"/>
          <p:nvPr/>
        </p:nvSpPr>
        <p:spPr>
          <a:xfrm>
            <a:off x="12340895" y="11888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4</a:t>
            </a:r>
            <a:endParaRPr/>
          </a:p>
        </p:txBody>
      </p:sp>
      <p:sp>
        <p:nvSpPr>
          <p:cNvPr id="640" name="Google Shape;640;p50"/>
          <p:cNvSpPr/>
          <p:nvPr/>
        </p:nvSpPr>
        <p:spPr>
          <a:xfrm>
            <a:off x="548640" y="1417320"/>
            <a:ext cx="3566160" cy="37947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0"/>
          <p:cNvSpPr/>
          <p:nvPr/>
        </p:nvSpPr>
        <p:spPr>
          <a:xfrm>
            <a:off x="548640" y="1417320"/>
            <a:ext cx="68580" cy="37947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0"/>
          <p:cNvSpPr txBox="1"/>
          <p:nvPr/>
        </p:nvSpPr>
        <p:spPr>
          <a:xfrm>
            <a:off x="722376" y="153619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8 · Grafo de co-compra</a:t>
            </a:r>
            <a:endParaRPr/>
          </a:p>
        </p:txBody>
      </p:sp>
      <p:sp>
        <p:nvSpPr>
          <p:cNvPr id="643" name="Google Shape;643;p50"/>
          <p:cNvSpPr txBox="1"/>
          <p:nvPr/>
        </p:nvSpPr>
        <p:spPr>
          <a:xfrm>
            <a:off x="722376" y="2048256"/>
            <a:ext cx="324612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Productos = nodos; co-compras = aristas ponderadas. PageRank estima importancia estructural propagando puntuaciones por enlaces.</a:t>
            </a:r>
            <a:endParaRPr/>
          </a:p>
        </p:txBody>
      </p:sp>
      <p:sp>
        <p:nvSpPr>
          <p:cNvPr id="644" name="Google Shape;644;p50"/>
          <p:cNvSpPr/>
          <p:nvPr/>
        </p:nvSpPr>
        <p:spPr>
          <a:xfrm>
            <a:off x="4325112" y="1417320"/>
            <a:ext cx="3566160" cy="37947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4325112" y="1417320"/>
            <a:ext cx="68580" cy="37947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0"/>
          <p:cNvSpPr txBox="1"/>
          <p:nvPr/>
        </p:nvSpPr>
        <p:spPr>
          <a:xfrm>
            <a:off x="4498848" y="153619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8 · Louvain</a:t>
            </a:r>
            <a:endParaRPr/>
          </a:p>
        </p:txBody>
      </p:sp>
      <p:sp>
        <p:nvSpPr>
          <p:cNvPr id="647" name="Google Shape;647;p50"/>
          <p:cNvSpPr txBox="1"/>
          <p:nvPr/>
        </p:nvSpPr>
        <p:spPr>
          <a:xfrm>
            <a:off x="4498848" y="2048256"/>
            <a:ext cx="324612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Agrupa productos maximizando modularidad. En el subgrafo: 0,547 de modularidad frente a 0,224 de Label Propagation; no equivale a segmentos de negocio validados.</a:t>
            </a:r>
            <a:endParaRPr/>
          </a:p>
        </p:txBody>
      </p:sp>
      <p:sp>
        <p:nvSpPr>
          <p:cNvPr id="648" name="Google Shape;648;p50"/>
          <p:cNvSpPr/>
          <p:nvPr/>
        </p:nvSpPr>
        <p:spPr>
          <a:xfrm>
            <a:off x="8101583" y="1417320"/>
            <a:ext cx="3566160" cy="379476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0"/>
          <p:cNvSpPr/>
          <p:nvPr/>
        </p:nvSpPr>
        <p:spPr>
          <a:xfrm>
            <a:off x="8101583" y="1417320"/>
            <a:ext cx="68580" cy="37947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0"/>
          <p:cNvSpPr txBox="1"/>
          <p:nvPr/>
        </p:nvSpPr>
        <p:spPr>
          <a:xfrm>
            <a:off x="8275319" y="1536192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9 · Trie + Heap Top-K</a:t>
            </a:r>
            <a:endParaRPr/>
          </a:p>
        </p:txBody>
      </p:sp>
      <p:sp>
        <p:nvSpPr>
          <p:cNvPr id="651" name="Google Shape;651;p50"/>
          <p:cNvSpPr txBox="1"/>
          <p:nvPr/>
        </p:nvSpPr>
        <p:spPr>
          <a:xfrm>
            <a:off x="8275319" y="2048256"/>
            <a:ext cx="324612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Trie facilita búsquedas por prefijo; un heap mantiene los k mejores candidatos sin ordenar todo el universo. La salida combina ranking y reglas del caso de uso.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656" name="Google Shape;65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1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1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Comunidades: calidad, tiempo y estabilidad</a:t>
            </a:r>
            <a:endParaRPr/>
          </a:p>
        </p:txBody>
      </p:sp>
      <p:sp>
        <p:nvSpPr>
          <p:cNvPr id="659" name="Google Shape;659;p51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Subgrafo: 2.500 nodos · 9.936 aristas · 3 semillas</a:t>
            </a:r>
            <a:endParaRPr/>
          </a:p>
        </p:txBody>
      </p:sp>
      <p:pic>
        <p:nvPicPr>
          <p:cNvPr id="660" name="Google Shape;66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377440"/>
            <a:ext cx="713232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1"/>
          <p:cNvSpPr/>
          <p:nvPr/>
        </p:nvSpPr>
        <p:spPr>
          <a:xfrm>
            <a:off x="8046720" y="2377440"/>
            <a:ext cx="3429000" cy="356616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8046720" y="2377440"/>
            <a:ext cx="68580" cy="356616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1"/>
          <p:cNvSpPr txBox="1"/>
          <p:nvPr/>
        </p:nvSpPr>
        <p:spPr>
          <a:xfrm>
            <a:off x="8275320" y="2542032"/>
            <a:ext cx="29900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Lectura crítica</a:t>
            </a:r>
            <a:endParaRPr/>
          </a:p>
        </p:txBody>
      </p:sp>
      <p:sp>
        <p:nvSpPr>
          <p:cNvPr id="664" name="Google Shape;664;p51"/>
          <p:cNvSpPr txBox="1"/>
          <p:nvPr/>
        </p:nvSpPr>
        <p:spPr>
          <a:xfrm>
            <a:off x="8275320" y="3072384"/>
            <a:ext cx="2971800" cy="2807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Louvain: mayor modularidad (0,547) y menor tiempo (304,32 ms).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567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Label Propagation: mayor estabilidad ARI (0,862 vs. 0,743).</a:t>
            </a:r>
            <a:endParaRPr/>
          </a:p>
        </p:txBody>
      </p:sp>
      <p:sp>
        <p:nvSpPr>
          <p:cNvPr id="665" name="Google Shape;665;p51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666" name="Google Shape;666;p51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671" name="Google Shape;67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52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Benchmark de hash: separar construir y consultar</a:t>
            </a:r>
            <a:endParaRPr/>
          </a:p>
        </p:txBody>
      </p:sp>
      <p:sp>
        <p:nvSpPr>
          <p:cNvPr id="674" name="Google Shape;674;p52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Escalas documentadas: 1.000, 10.000, 100.000 y 1.000.000 de eventos</a:t>
            </a:r>
            <a:endParaRPr/>
          </a:p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331720"/>
            <a:ext cx="71323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2"/>
          <p:cNvSpPr/>
          <p:nvPr/>
        </p:nvSpPr>
        <p:spPr>
          <a:xfrm>
            <a:off x="8138160" y="2377440"/>
            <a:ext cx="3246120" cy="352044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8138160" y="2377440"/>
            <a:ext cx="68580" cy="352044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8366760" y="2542032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Qué comparar</a:t>
            </a:r>
            <a:endParaRPr/>
          </a:p>
        </p:txBody>
      </p:sp>
      <p:sp>
        <p:nvSpPr>
          <p:cNvPr id="679" name="Google Shape;679;p52"/>
          <p:cNvSpPr txBox="1"/>
          <p:nvPr/>
        </p:nvSpPr>
        <p:spPr>
          <a:xfrm>
            <a:off x="8366760" y="3072384"/>
            <a:ext cx="278892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Consultar una tabla hash ya construida toma alrededor de 0,00015 ms en esta medición.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567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Construir el índice tiene un costo que debe informarse por separado.</a:t>
            </a:r>
            <a:endParaRPr/>
          </a:p>
        </p:txBody>
      </p:sp>
      <p:sp>
        <p:nvSpPr>
          <p:cNvPr id="680" name="Google Shape;680;p52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681" name="Google Shape;681;p52"/>
          <p:cNvSpPr txBox="1"/>
          <p:nvPr/>
        </p:nvSpPr>
        <p:spPr>
          <a:xfrm>
            <a:off x="12384195" y="274332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3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3"/>
          <p:cNvSpPr/>
          <p:nvPr/>
        </p:nvSpPr>
        <p:spPr>
          <a:xfrm>
            <a:off x="-146163" y="1880033"/>
            <a:ext cx="7710300" cy="2388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3"/>
          <p:cNvSpPr txBox="1"/>
          <p:nvPr/>
        </p:nvSpPr>
        <p:spPr>
          <a:xfrm>
            <a:off x="712265" y="2359553"/>
            <a:ext cx="6135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Conclusiones</a:t>
            </a:r>
            <a:endParaRPr b="1" i="0" sz="45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88" name="Google Shape;68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7804" y="5870933"/>
            <a:ext cx="510786" cy="540686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3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0" name="Google Shape;690;p53" title="Business desig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43554">
            <a:off x="5589850" y="1441453"/>
            <a:ext cx="5157268" cy="5157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nk.png" id="695" name="Google Shape;69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54"/>
          <p:cNvSpPr/>
          <p:nvPr/>
        </p:nvSpPr>
        <p:spPr>
          <a:xfrm>
            <a:off x="502920" y="941832"/>
            <a:ext cx="11155680" cy="54864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4"/>
          <p:cNvSpPr txBox="1"/>
          <p:nvPr/>
        </p:nvSpPr>
        <p:spPr>
          <a:xfrm>
            <a:off x="685800" y="11430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Conclusiones: elegir con evidencia</a:t>
            </a:r>
            <a:endParaRPr/>
          </a:p>
        </p:txBody>
      </p:sp>
      <p:sp>
        <p:nvSpPr>
          <p:cNvPr id="698" name="Google Shape;698;p54"/>
          <p:cNvSpPr txBox="1"/>
          <p:nvPr/>
        </p:nvSpPr>
        <p:spPr>
          <a:xfrm>
            <a:off x="704088" y="18105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Tres decisiones defendibles ante el profesor</a:t>
            </a:r>
            <a:endParaRPr/>
          </a:p>
        </p:txBody>
      </p:sp>
      <p:sp>
        <p:nvSpPr>
          <p:cNvPr id="699" name="Google Shape;699;p54"/>
          <p:cNvSpPr/>
          <p:nvPr/>
        </p:nvSpPr>
        <p:spPr>
          <a:xfrm>
            <a:off x="9784080" y="6291072"/>
            <a:ext cx="1691640" cy="310896"/>
          </a:xfrm>
          <a:prstGeom prst="roundRect">
            <a:avLst>
              <a:gd fmla="val 16667" name="adj"/>
            </a:avLst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4"/>
          <p:cNvSpPr txBox="1"/>
          <p:nvPr/>
        </p:nvSpPr>
        <p:spPr>
          <a:xfrm>
            <a:off x="9921240" y="630021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INTEGRANTE 4</a:t>
            </a:r>
            <a:endParaRPr/>
          </a:p>
        </p:txBody>
      </p:sp>
      <p:sp>
        <p:nvSpPr>
          <p:cNvPr id="701" name="Google Shape;701;p54"/>
          <p:cNvSpPr/>
          <p:nvPr/>
        </p:nvSpPr>
        <p:spPr>
          <a:xfrm>
            <a:off x="731520" y="2331720"/>
            <a:ext cx="3566160" cy="29718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4"/>
          <p:cNvSpPr/>
          <p:nvPr/>
        </p:nvSpPr>
        <p:spPr>
          <a:xfrm>
            <a:off x="731520" y="2331720"/>
            <a:ext cx="68580" cy="29718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4"/>
          <p:cNvSpPr txBox="1"/>
          <p:nvPr/>
        </p:nvSpPr>
        <p:spPr>
          <a:xfrm>
            <a:off x="960120" y="249631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01 · Integridad</a:t>
            </a:r>
            <a:endParaRPr/>
          </a:p>
        </p:txBody>
      </p:sp>
      <p:sp>
        <p:nvSpPr>
          <p:cNvPr id="704" name="Google Shape;704;p54"/>
          <p:cNvSpPr txBox="1"/>
          <p:nvPr/>
        </p:nvSpPr>
        <p:spPr>
          <a:xfrm>
            <a:off x="960120" y="3026663"/>
            <a:ext cx="310896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La calidad y el corte temporal preceden a cualquier recomendación.</a:t>
            </a:r>
            <a:endParaRPr/>
          </a:p>
        </p:txBody>
      </p:sp>
      <p:sp>
        <p:nvSpPr>
          <p:cNvPr id="705" name="Google Shape;705;p54"/>
          <p:cNvSpPr/>
          <p:nvPr/>
        </p:nvSpPr>
        <p:spPr>
          <a:xfrm>
            <a:off x="4526280" y="2331720"/>
            <a:ext cx="3566160" cy="29718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4"/>
          <p:cNvSpPr/>
          <p:nvPr/>
        </p:nvSpPr>
        <p:spPr>
          <a:xfrm>
            <a:off x="4526280" y="2331720"/>
            <a:ext cx="68580" cy="29718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4"/>
          <p:cNvSpPr txBox="1"/>
          <p:nvPr/>
        </p:nvSpPr>
        <p:spPr>
          <a:xfrm>
            <a:off x="4754880" y="249631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02 · Compromisos</a:t>
            </a:r>
            <a:endParaRPr/>
          </a:p>
        </p:txBody>
      </p:sp>
      <p:sp>
        <p:nvSpPr>
          <p:cNvPr id="708" name="Google Shape;708;p54"/>
          <p:cNvSpPr txBox="1"/>
          <p:nvPr/>
        </p:nvSpPr>
        <p:spPr>
          <a:xfrm>
            <a:off x="4754880" y="3026663"/>
            <a:ext cx="310896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HNSW acelera con pérdida de exactitud; LSH aumenta recall con más candidatos.</a:t>
            </a:r>
            <a:endParaRPr/>
          </a:p>
        </p:txBody>
      </p:sp>
      <p:sp>
        <p:nvSpPr>
          <p:cNvPr id="709" name="Google Shape;709;p54"/>
          <p:cNvSpPr/>
          <p:nvPr/>
        </p:nvSpPr>
        <p:spPr>
          <a:xfrm>
            <a:off x="8321040" y="2331720"/>
            <a:ext cx="3566160" cy="2971800"/>
          </a:xfrm>
          <a:prstGeom prst="roundRect">
            <a:avLst>
              <a:gd fmla="val 16667" name="adj"/>
            </a:avLst>
          </a:prstGeom>
          <a:solidFill>
            <a:srgbClr val="F0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4"/>
          <p:cNvSpPr/>
          <p:nvPr/>
        </p:nvSpPr>
        <p:spPr>
          <a:xfrm>
            <a:off x="8321040" y="2331720"/>
            <a:ext cx="68580" cy="2971800"/>
          </a:xfrm>
          <a:prstGeom prst="rect">
            <a:avLst/>
          </a:prstGeom>
          <a:solidFill>
            <a:srgbClr val="00D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4"/>
          <p:cNvSpPr txBox="1"/>
          <p:nvPr/>
        </p:nvSpPr>
        <p:spPr>
          <a:xfrm>
            <a:off x="8549640" y="2496312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03 · Contexto</a:t>
            </a:r>
            <a:endParaRPr/>
          </a:p>
        </p:txBody>
      </p:sp>
      <p:sp>
        <p:nvSpPr>
          <p:cNvPr id="712" name="Google Shape;712;p54"/>
          <p:cNvSpPr txBox="1"/>
          <p:nvPr/>
        </p:nvSpPr>
        <p:spPr>
          <a:xfrm>
            <a:off x="8549640" y="3026663"/>
            <a:ext cx="310896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6775"/>
                </a:solidFill>
                <a:latin typeface="Arial"/>
                <a:ea typeface="Arial"/>
                <a:cs typeface="Arial"/>
                <a:sym typeface="Arial"/>
              </a:rPr>
              <a:t>B+Tree aporta persistencia; grafos explican relaciones; ninguna técnica gana siempre.</a:t>
            </a:r>
            <a:endParaRPr/>
          </a:p>
        </p:txBody>
      </p:sp>
      <p:sp>
        <p:nvSpPr>
          <p:cNvPr id="713" name="Google Shape;713;p54"/>
          <p:cNvSpPr txBox="1"/>
          <p:nvPr/>
        </p:nvSpPr>
        <p:spPr>
          <a:xfrm>
            <a:off x="1005840" y="571500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B33"/>
                </a:solidFill>
                <a:latin typeface="Arial"/>
                <a:ea typeface="Arial"/>
                <a:cs typeface="Arial"/>
                <a:sym typeface="Arial"/>
              </a:rPr>
              <a:t>REES46: arquitectura integrada, experimentos reproducibles y límites explícitos.</a:t>
            </a:r>
            <a:endParaRPr/>
          </a:p>
        </p:txBody>
      </p:sp>
      <p:sp>
        <p:nvSpPr>
          <p:cNvPr id="714" name="Google Shape;714;p54"/>
          <p:cNvSpPr txBox="1"/>
          <p:nvPr/>
        </p:nvSpPr>
        <p:spPr>
          <a:xfrm>
            <a:off x="11567160" y="6455664"/>
            <a:ext cx="320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1E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5"/>
          <p:cNvSpPr txBox="1"/>
          <p:nvPr/>
        </p:nvSpPr>
        <p:spPr>
          <a:xfrm>
            <a:off x="502920" y="27432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Protocolo de experimentación: qué se midió</a:t>
            </a:r>
            <a:endParaRPr/>
          </a:p>
        </p:txBody>
      </p:sp>
      <p:sp>
        <p:nvSpPr>
          <p:cNvPr id="721" name="Google Shape;721;p55"/>
          <p:cNvSpPr txBox="1"/>
          <p:nvPr/>
        </p:nvSpPr>
        <p:spPr>
          <a:xfrm>
            <a:off x="502920" y="8321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Evitar confundir exactitud, tiempo de consulta y costo de construcción</a:t>
            </a:r>
            <a:endParaRPr/>
          </a:p>
        </p:txBody>
      </p:sp>
      <p:sp>
        <p:nvSpPr>
          <p:cNvPr id="722" name="Google Shape;722;p55"/>
          <p:cNvSpPr/>
          <p:nvPr/>
        </p:nvSpPr>
        <p:spPr>
          <a:xfrm>
            <a:off x="502920" y="1271016"/>
            <a:ext cx="11277295" cy="2286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5"/>
          <p:cNvSpPr txBox="1"/>
          <p:nvPr/>
        </p:nvSpPr>
        <p:spPr>
          <a:xfrm>
            <a:off x="12297570" y="198257"/>
            <a:ext cx="1417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66C79"/>
                </a:solidFill>
                <a:latin typeface="Arial"/>
                <a:ea typeface="Arial"/>
                <a:cs typeface="Arial"/>
                <a:sym typeface="Arial"/>
              </a:rPr>
              <a:t>INTEGRANTE 4</a:t>
            </a:r>
            <a:endParaRPr/>
          </a:p>
        </p:txBody>
      </p:sp>
      <p:sp>
        <p:nvSpPr>
          <p:cNvPr id="724" name="Google Shape;724;p55"/>
          <p:cNvSpPr/>
          <p:nvPr/>
        </p:nvSpPr>
        <p:spPr>
          <a:xfrm>
            <a:off x="548640" y="1399032"/>
            <a:ext cx="3566160" cy="388620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5"/>
          <p:cNvSpPr/>
          <p:nvPr/>
        </p:nvSpPr>
        <p:spPr>
          <a:xfrm>
            <a:off x="548640" y="1399032"/>
            <a:ext cx="68580" cy="388620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5"/>
          <p:cNvSpPr txBox="1"/>
          <p:nvPr/>
        </p:nvSpPr>
        <p:spPr>
          <a:xfrm>
            <a:off x="722376" y="151790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/>
          </a:p>
        </p:txBody>
      </p:sp>
      <p:sp>
        <p:nvSpPr>
          <p:cNvPr id="727" name="Google Shape;727;p55"/>
          <p:cNvSpPr txBox="1"/>
          <p:nvPr/>
        </p:nvSpPr>
        <p:spPr>
          <a:xfrm>
            <a:off x="722376" y="2029967"/>
            <a:ext cx="32461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Recomendación: HitRate@5 y Recall@5 en 300 sesiones.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Vecinos: Recall@5 de HNSW frente a KNN exacto.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Comunidades: modularidad y ARI.</a:t>
            </a:r>
            <a:endParaRPr/>
          </a:p>
        </p:txBody>
      </p:sp>
      <p:sp>
        <p:nvSpPr>
          <p:cNvPr id="728" name="Google Shape;728;p55"/>
          <p:cNvSpPr/>
          <p:nvPr/>
        </p:nvSpPr>
        <p:spPr>
          <a:xfrm>
            <a:off x="4325112" y="1399032"/>
            <a:ext cx="3566160" cy="388620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5"/>
          <p:cNvSpPr/>
          <p:nvPr/>
        </p:nvSpPr>
        <p:spPr>
          <a:xfrm>
            <a:off x="4325112" y="1399032"/>
            <a:ext cx="68580" cy="388620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5"/>
          <p:cNvSpPr txBox="1"/>
          <p:nvPr/>
        </p:nvSpPr>
        <p:spPr>
          <a:xfrm>
            <a:off x="4498848" y="151790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Rendimiento</a:t>
            </a:r>
            <a:endParaRPr/>
          </a:p>
        </p:txBody>
      </p:sp>
      <p:sp>
        <p:nvSpPr>
          <p:cNvPr id="731" name="Google Shape;731;p55"/>
          <p:cNvSpPr txBox="1"/>
          <p:nvPr/>
        </p:nvSpPr>
        <p:spPr>
          <a:xfrm>
            <a:off x="4498848" y="2029967"/>
            <a:ext cx="32461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Latencias en ms; hash contra escaneo a 1k, 10k, 100k y 1M.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Construcción del índice y consulta se reportan separadamente.</a:t>
            </a:r>
            <a:endParaRPr/>
          </a:p>
        </p:txBody>
      </p:sp>
      <p:sp>
        <p:nvSpPr>
          <p:cNvPr id="732" name="Google Shape;732;p55"/>
          <p:cNvSpPr/>
          <p:nvPr/>
        </p:nvSpPr>
        <p:spPr>
          <a:xfrm>
            <a:off x="8101583" y="1399032"/>
            <a:ext cx="3566160" cy="3886200"/>
          </a:xfrm>
          <a:prstGeom prst="roundRect">
            <a:avLst>
              <a:gd fmla="val 16667" name="adj"/>
            </a:avLst>
          </a:prstGeom>
          <a:solidFill>
            <a:srgbClr val="E7F7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5"/>
          <p:cNvSpPr/>
          <p:nvPr/>
        </p:nvSpPr>
        <p:spPr>
          <a:xfrm>
            <a:off x="8101583" y="1399032"/>
            <a:ext cx="68580" cy="3886200"/>
          </a:xfrm>
          <a:prstGeom prst="rect">
            <a:avLst/>
          </a:prstGeom>
          <a:solidFill>
            <a:srgbClr val="00CFE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5"/>
          <p:cNvSpPr txBox="1"/>
          <p:nvPr/>
        </p:nvSpPr>
        <p:spPr>
          <a:xfrm>
            <a:off x="8275319" y="151790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Interpretación y límites</a:t>
            </a:r>
            <a:endParaRPr/>
          </a:p>
        </p:txBody>
      </p:sp>
      <p:sp>
        <p:nvSpPr>
          <p:cNvPr id="735" name="Google Shape;735;p55"/>
          <p:cNvSpPr txBox="1"/>
          <p:nvPr/>
        </p:nvSpPr>
        <p:spPr>
          <a:xfrm>
            <a:off x="8275319" y="2029967"/>
            <a:ext cx="32461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B+Tree: 121.903 productos, 7/7 rangos verificados.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Bloom/CMS: sin benchmark cuantitativo validado.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2A33"/>
                </a:solidFill>
                <a:latin typeface="Arial"/>
                <a:ea typeface="Arial"/>
                <a:cs typeface="Arial"/>
                <a:sym typeface="Arial"/>
              </a:rPr>
              <a:t>10M procesados ≠ benchmark controlado a 10M.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6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6"/>
          <p:cNvSpPr txBox="1"/>
          <p:nvPr/>
        </p:nvSpPr>
        <p:spPr>
          <a:xfrm>
            <a:off x="594360" y="29260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UTEC Posgrado  /  REES46</a:t>
            </a:r>
            <a:endParaRPr/>
          </a:p>
        </p:txBody>
      </p:sp>
      <p:sp>
        <p:nvSpPr>
          <p:cNvPr id="742" name="Google Shape;742;p56"/>
          <p:cNvSpPr txBox="1"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Conclusiones: qué demuestran los experimentos</a:t>
            </a:r>
            <a:endParaRPr/>
          </a:p>
        </p:txBody>
      </p:sp>
      <p:sp>
        <p:nvSpPr>
          <p:cNvPr id="743" name="Google Shape;743;p56"/>
          <p:cNvSpPr txBox="1"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La arquitectura se evalúa por evidencia, no por complejidad aparente</a:t>
            </a:r>
            <a:endParaRPr/>
          </a:p>
        </p:txBody>
      </p:sp>
      <p:sp>
        <p:nvSpPr>
          <p:cNvPr id="744" name="Google Shape;744;p56"/>
          <p:cNvSpPr/>
          <p:nvPr/>
        </p:nvSpPr>
        <p:spPr>
          <a:xfrm>
            <a:off x="640080" y="2084831"/>
            <a:ext cx="10881360" cy="22860"/>
          </a:xfrm>
          <a:prstGeom prst="rect">
            <a:avLst/>
          </a:prstGeom>
          <a:solidFill>
            <a:srgbClr val="00C9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6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INTEGRANTE 4</a:t>
            </a:r>
            <a:endParaRPr/>
          </a:p>
        </p:txBody>
      </p:sp>
      <p:sp>
        <p:nvSpPr>
          <p:cNvPr id="746" name="Google Shape;746;p56"/>
          <p:cNvSpPr/>
          <p:nvPr/>
        </p:nvSpPr>
        <p:spPr>
          <a:xfrm>
            <a:off x="777240" y="2395728"/>
            <a:ext cx="5184648" cy="1417320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6"/>
          <p:cNvSpPr txBox="1"/>
          <p:nvPr/>
        </p:nvSpPr>
        <p:spPr>
          <a:xfrm>
            <a:off x="914400" y="2560320"/>
            <a:ext cx="52120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748" name="Google Shape;748;p56"/>
          <p:cNvSpPr txBox="1"/>
          <p:nvPr/>
        </p:nvSpPr>
        <p:spPr>
          <a:xfrm>
            <a:off x="1508760" y="250545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Recomendación</a:t>
            </a:r>
            <a:endParaRPr/>
          </a:p>
        </p:txBody>
      </p:sp>
      <p:sp>
        <p:nvSpPr>
          <p:cNvPr id="749" name="Google Shape;749;p56"/>
          <p:cNvSpPr txBox="1"/>
          <p:nvPr/>
        </p:nvSpPr>
        <p:spPr>
          <a:xfrm>
            <a:off x="1508760" y="288036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El grafo de sesión alcanzó 28,00 % de HitRate@5 frente a 10,67 % de HNSW en 300 sesiones. La similitud vectorial no sustituyó el contexto secuencial.</a:t>
            </a:r>
            <a:endParaRPr/>
          </a:p>
        </p:txBody>
      </p:sp>
      <p:sp>
        <p:nvSpPr>
          <p:cNvPr id="750" name="Google Shape;750;p56"/>
          <p:cNvSpPr/>
          <p:nvPr/>
        </p:nvSpPr>
        <p:spPr>
          <a:xfrm>
            <a:off x="6309359" y="2395728"/>
            <a:ext cx="5184648" cy="1417320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6"/>
          <p:cNvSpPr txBox="1"/>
          <p:nvPr/>
        </p:nvSpPr>
        <p:spPr>
          <a:xfrm>
            <a:off x="6446520" y="2560320"/>
            <a:ext cx="52120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752" name="Google Shape;752;p56"/>
          <p:cNvSpPr txBox="1"/>
          <p:nvPr/>
        </p:nvSpPr>
        <p:spPr>
          <a:xfrm>
            <a:off x="7040879" y="250545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Exactitud y latencia</a:t>
            </a:r>
            <a:endParaRPr/>
          </a:p>
        </p:txBody>
      </p:sp>
      <p:sp>
        <p:nvSpPr>
          <p:cNvPr id="753" name="Google Shape;753;p56"/>
          <p:cNvSpPr txBox="1"/>
          <p:nvPr/>
        </p:nvSpPr>
        <p:spPr>
          <a:xfrm>
            <a:off x="7040879" y="288036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HNSW redujo la latencia de 2,335 a 0,407 ms frente a KNN exacto, con Recall@5 de 89,33 %. La mejora de velocidad tiene un costo medible.</a:t>
            </a:r>
            <a:endParaRPr/>
          </a:p>
        </p:txBody>
      </p:sp>
      <p:sp>
        <p:nvSpPr>
          <p:cNvPr id="754" name="Google Shape;754;p56"/>
          <p:cNvSpPr/>
          <p:nvPr/>
        </p:nvSpPr>
        <p:spPr>
          <a:xfrm>
            <a:off x="777240" y="4041648"/>
            <a:ext cx="5184648" cy="1417320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6"/>
          <p:cNvSpPr txBox="1"/>
          <p:nvPr/>
        </p:nvSpPr>
        <p:spPr>
          <a:xfrm>
            <a:off x="914400" y="4206240"/>
            <a:ext cx="52120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756" name="Google Shape;756;p56"/>
          <p:cNvSpPr txBox="1"/>
          <p:nvPr/>
        </p:nvSpPr>
        <p:spPr>
          <a:xfrm>
            <a:off x="1508760" y="415137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Índices y persistencia</a:t>
            </a:r>
            <a:endParaRPr/>
          </a:p>
        </p:txBody>
      </p:sp>
      <p:sp>
        <p:nvSpPr>
          <p:cNvPr id="757" name="Google Shape;757;p56"/>
          <p:cNvSpPr txBox="1"/>
          <p:nvPr/>
        </p:nvSpPr>
        <p:spPr>
          <a:xfrm>
            <a:off x="1508760" y="452628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B+Tree permitió consultas por rango sobre un índice persistente de 121.903 productos. No fue más rápido que bisect en RAM: resuelve otra necesidad.</a:t>
            </a:r>
            <a:endParaRPr/>
          </a:p>
        </p:txBody>
      </p:sp>
      <p:sp>
        <p:nvSpPr>
          <p:cNvPr id="758" name="Google Shape;758;p56"/>
          <p:cNvSpPr/>
          <p:nvPr/>
        </p:nvSpPr>
        <p:spPr>
          <a:xfrm>
            <a:off x="6309359" y="4041648"/>
            <a:ext cx="5184648" cy="1417320"/>
          </a:xfrm>
          <a:prstGeom prst="roundRect">
            <a:avLst>
              <a:gd fmla="val 16667" name="adj"/>
            </a:avLst>
          </a:prstGeom>
          <a:solidFill>
            <a:srgbClr val="EAF7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6"/>
          <p:cNvSpPr txBox="1"/>
          <p:nvPr/>
        </p:nvSpPr>
        <p:spPr>
          <a:xfrm>
            <a:off x="6446520" y="4206240"/>
            <a:ext cx="52120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C9D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760" name="Google Shape;760;p56"/>
          <p:cNvSpPr txBox="1"/>
          <p:nvPr/>
        </p:nvSpPr>
        <p:spPr>
          <a:xfrm>
            <a:off x="7040879" y="415137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2D33"/>
                </a:solidFill>
                <a:latin typeface="Calibri"/>
                <a:ea typeface="Calibri"/>
                <a:cs typeface="Calibri"/>
                <a:sym typeface="Calibri"/>
              </a:rPr>
              <a:t>Alcance de resultados</a:t>
            </a:r>
            <a:endParaRPr/>
          </a:p>
        </p:txBody>
      </p:sp>
      <p:sp>
        <p:nvSpPr>
          <p:cNvPr id="761" name="Google Shape;761;p56"/>
          <p:cNvSpPr txBox="1"/>
          <p:nvPr/>
        </p:nvSpPr>
        <p:spPr>
          <a:xfrm>
            <a:off x="7040879" y="452628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576A78"/>
                </a:solidFill>
                <a:latin typeface="Calibri"/>
                <a:ea typeface="Calibri"/>
                <a:cs typeface="Calibri"/>
                <a:sym typeface="Calibri"/>
              </a:rPr>
              <a:t>Bloom y Count-Min Sketch son aproximaciones útiles, pero no se validó detección de fraude con etiquetas reales. Los hallazgos deben leerse según su protocolo.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7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7" name="Google Shape;767;p57"/>
          <p:cNvSpPr txBox="1"/>
          <p:nvPr/>
        </p:nvSpPr>
        <p:spPr>
          <a:xfrm>
            <a:off x="716818" y="2889864"/>
            <a:ext cx="8835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9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</a:t>
            </a:r>
            <a:endParaRPr b="0" i="0" sz="9000" u="none" cap="none" strike="noStrike">
              <a:solidFill>
                <a:srgbClr val="00E1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8" name="Google Shape;768;p57" title="mano 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5279" y="1892533"/>
            <a:ext cx="5066931" cy="5066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